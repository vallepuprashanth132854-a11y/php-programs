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2174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Relationship Id="rId6" Target="../media/image3.jpeg" Type="http://schemas.openxmlformats.org/officeDocument/2006/relationships/image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2047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124460" y="69850"/>
            <a:ext cx="12011660" cy="675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2047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12192000" cy="685673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7641590" y="144780"/>
            <a:ext cx="3992880" cy="124079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>
            <a:off x="640080" y="2322830"/>
            <a:ext cx="3046730" cy="7594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598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5400" b="true" baseline="0" spc="-135">
                <a:solidFill>
                  <a:srgbClr val="FFFFFF"/>
                </a:solidFill>
                <a:latin typeface="Times New Roman"/>
              </a:rPr>
              <a:t>ShowTime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9839960" y="1977390"/>
            <a:ext cx="701040" cy="6464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50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4350" baseline="0">
                <a:solidFill>
                  <a:srgbClr val="000000"/>
                </a:solidFill>
                <a:ea typeface="Times New Roman"/>
              </a:rPr>
              <a:t>🎬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640080" y="3169920"/>
            <a:ext cx="3926840" cy="64389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22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2000" baseline="0" spc="-50">
                <a:solidFill>
                  <a:srgbClr val="F5C6C8"/>
                </a:solidFill>
                <a:latin typeface="Times New Roman"/>
              </a:rPr>
              <a:t>Online Movie Ticket Booking System</a:t>
            </a:r>
            <a:endParaRPr lang="en-US" sz="1100"/>
          </a:p>
          <a:p>
            <a:pPr marL="0" marR="0" indent="0" hangingPunct="false" algn="l">
              <a:lnSpc>
                <a:spcPts val="1550"/>
              </a:lnSpc>
              <a:spcBef>
                <a:spcPts val="1310"/>
              </a:spcBef>
              <a:spcAft>
                <a:spcPct val="0"/>
              </a:spcAft>
            </a:pPr>
            <a:r>
              <a:rPr lang="en-US" sz="1400" baseline="0" spc="-34">
                <a:solidFill>
                  <a:srgbClr val="BDBDBD"/>
                </a:solidFill>
                <a:latin typeface="Times New Roman"/>
              </a:rPr>
              <a:t>A PHP &amp; MySQL Web Development Project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640080" y="4739640"/>
            <a:ext cx="163322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25">
                <a:solidFill>
                  <a:srgbClr val="D2232A"/>
                </a:solidFill>
                <a:latin typeface="Times New Roman"/>
              </a:rPr>
              <a:t>T E A M  I N F O R M AT I O N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9500870" y="4577080"/>
            <a:ext cx="1294130" cy="4394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48260" marR="0" indent="0" hangingPunct="false">
              <a:lnSpc>
                <a:spcPts val="155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400" b="true" baseline="0" spc="-34">
                <a:solidFill>
                  <a:srgbClr val="FFFFFF"/>
                </a:solidFill>
                <a:latin typeface="Times New Roman"/>
              </a:rPr>
              <a:t>A D M I T  O N E</a:t>
            </a:r>
            <a:endParaRPr lang="en-US" sz="1100"/>
          </a:p>
          <a:p>
            <a:pPr marL="0" marR="0" indent="0" hangingPunct="false" algn="l">
              <a:lnSpc>
                <a:spcPts val="1100"/>
              </a:lnSpc>
              <a:spcBef>
                <a:spcPts val="810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FFD9DB"/>
                </a:solidFill>
                <a:latin typeface="Times New Roman"/>
              </a:rPr>
              <a:t>SCREEN 1  •  SEAT A12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640080" y="5217160"/>
            <a:ext cx="2194560" cy="68199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4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300" baseline="0" spc="15">
                <a:solidFill>
                  <a:srgbClr val="FFFFFF"/>
                </a:solidFill>
                <a:latin typeface="Times New Roman"/>
              </a:rPr>
              <a:t>92400527041   -  Vinay Swamy</a:t>
            </a:r>
            <a:endParaRPr lang="en-US" sz="1100"/>
          </a:p>
          <a:p>
            <a:pPr marL="0" marR="0" indent="0" hangingPunct="false" algn="l">
              <a:lnSpc>
                <a:spcPts val="1440"/>
              </a:lnSpc>
              <a:spcBef>
                <a:spcPts val="519"/>
              </a:spcBef>
              <a:spcAft>
                <a:spcPct val="0"/>
              </a:spcAft>
            </a:pPr>
            <a:r>
              <a:rPr lang="en-US" sz="1300" baseline="0" spc="12">
                <a:solidFill>
                  <a:srgbClr val="FFFFFF"/>
                </a:solidFill>
                <a:latin typeface="Times New Roman"/>
              </a:rPr>
              <a:t>92400527096   - Sai Deepak</a:t>
            </a:r>
          </a:p>
          <a:p>
            <a:pPr marL="0" marR="0" indent="0" hangingPunct="false" algn="l">
              <a:lnSpc>
                <a:spcPts val="1440"/>
              </a:lnSpc>
              <a:spcBef>
                <a:spcPts val="530"/>
              </a:spcBef>
              <a:spcAft>
                <a:spcPct val="0"/>
              </a:spcAft>
            </a:pPr>
            <a:r>
              <a:rPr lang="en-US" sz="1300" baseline="0" spc="6">
                <a:solidFill>
                  <a:srgbClr val="FFFFFF"/>
                </a:solidFill>
                <a:latin typeface="Times New Roman"/>
              </a:rPr>
              <a:t>92400527339   -  Prashanth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2047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>
            <a:off x="457200" y="1737360"/>
            <a:ext cx="5349240" cy="4296410"/>
          </a:xfrm>
          <a:prstGeom prst="rect">
            <a:avLst/>
          </a:prstGeom>
          <a:solidFill>
            <a:srgbClr val="F5F5F5"/>
          </a:solidFill>
        </p:spPr>
      </p:sp>
      <p:sp>
        <p:nvSpPr>
          <p:cNvPr name="AutoShape 4" id="4"/>
          <p:cNvSpPr/>
          <p:nvPr/>
        </p:nvSpPr>
        <p:spPr>
          <a:xfrm>
            <a:off x="6080760" y="1737360"/>
            <a:ext cx="5349240" cy="4296410"/>
          </a:xfrm>
          <a:prstGeom prst="rect">
            <a:avLst/>
          </a:prstGeom>
          <a:solidFill>
            <a:srgbClr val="D2222A"/>
          </a:solidFill>
        </p:spPr>
      </p:sp>
      <p:sp>
        <p:nvSpPr>
          <p:cNvPr name="AutoShape 5" id="5"/>
          <p:cNvSpPr/>
          <p:nvPr/>
        </p:nvSpPr>
        <p:spPr>
          <a:xfrm>
            <a:off x="457200" y="1737360"/>
            <a:ext cx="5349240" cy="4296410"/>
          </a:xfrm>
          <a:prstGeom prst="rect">
            <a:avLst/>
          </a:prstGeom>
          <a:ln w="12600" cmpd="sng">
            <a:solidFill>
              <a:srgbClr val="E0E0E0"/>
            </a:solidFill>
          </a:ln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8055610" y="152400"/>
            <a:ext cx="4352290" cy="159639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>
            <a:off x="457200" y="350520"/>
            <a:ext cx="178181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25">
                <a:solidFill>
                  <a:srgbClr val="D2232A"/>
                </a:solidFill>
                <a:latin typeface="Times New Roman"/>
              </a:rPr>
              <a:t>P R O B L E M  S TAT E M E N T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11305540" y="350520"/>
            <a:ext cx="38735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aseline="0" spc="25">
                <a:solidFill>
                  <a:srgbClr val="757575"/>
                </a:solidFill>
                <a:latin typeface="Times New Roman"/>
              </a:rPr>
              <a:t>02 / 12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457200" y="737870"/>
            <a:ext cx="3197860" cy="4495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35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3200" b="true" baseline="0" spc="8">
                <a:solidFill>
                  <a:srgbClr val="212121"/>
                </a:solidFill>
                <a:latin typeface="Times New Roman"/>
              </a:rPr>
              <a:t>Why This Project?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822960" y="2137410"/>
            <a:ext cx="3903980" cy="188214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879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700" b="true" baseline="0" spc="-42">
                <a:solidFill>
                  <a:srgbClr val="212121"/>
                </a:solidFill>
                <a:latin typeface="Times New Roman"/>
              </a:rPr>
              <a:t>Traditional Ticket Booking</a:t>
            </a:r>
            <a:endParaRPr lang="en-US" sz="1100"/>
          </a:p>
          <a:p>
            <a:pPr marL="0" marR="0" indent="0" hangingPunct="false" algn="l">
              <a:lnSpc>
                <a:spcPts val="1510"/>
              </a:lnSpc>
              <a:spcBef>
                <a:spcPts val="1950"/>
              </a:spcBef>
              <a:spcAft>
                <a:spcPct val="0"/>
              </a:spcAft>
            </a:pPr>
            <a:r>
              <a:rPr lang="en-US" sz="1300" baseline="0" spc="32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4">
                <a:solidFill>
                  <a:srgbClr val="212121"/>
                </a:solidFill>
                <a:latin typeface="Times New Roman"/>
              </a:rPr>
              <a:t>Long queues at theater counters for physical tickets</a:t>
            </a:r>
          </a:p>
          <a:p>
            <a:pPr marL="0" marR="0" indent="0" hangingPunct="false" algn="l">
              <a:lnSpc>
                <a:spcPts val="1510"/>
              </a:lnSpc>
              <a:spcBef>
                <a:spcPts val="1110"/>
              </a:spcBef>
              <a:spcAft>
                <a:spcPct val="0"/>
              </a:spcAft>
            </a:pPr>
            <a:r>
              <a:rPr lang="en-US" sz="1300" baseline="0" spc="32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0">
                <a:solidFill>
                  <a:srgbClr val="212121"/>
                </a:solidFill>
                <a:latin typeface="Times New Roman"/>
              </a:rPr>
              <a:t>No single place to compare shows across multiple </a:t>
            </a:r>
          </a:p>
          <a:p>
            <a:pPr marL="177800" marR="0" indent="0" hangingPunct="false" algn="l">
              <a:lnSpc>
                <a:spcPts val="1440"/>
              </a:lnSpc>
              <a:spcBef>
                <a:spcPts val="179"/>
              </a:spcBef>
              <a:spcAft>
                <a:spcPct val="0"/>
              </a:spcAft>
            </a:pPr>
            <a:r>
              <a:rPr lang="en-US" sz="1300" baseline="0" spc="-16">
                <a:solidFill>
                  <a:srgbClr val="212121"/>
                </a:solidFill>
                <a:latin typeface="Times New Roman"/>
              </a:rPr>
              <a:t>theaters</a:t>
            </a:r>
          </a:p>
          <a:p>
            <a:pPr marL="0" marR="0" indent="0" hangingPunct="false" algn="l">
              <a:lnSpc>
                <a:spcPts val="1510"/>
              </a:lnSpc>
              <a:spcBef>
                <a:spcPts val="1110"/>
              </a:spcBef>
              <a:spcAft>
                <a:spcPct val="0"/>
              </a:spcAft>
            </a:pPr>
            <a:r>
              <a:rPr lang="en-US" sz="1300" baseline="0" spc="32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11">
                <a:solidFill>
                  <a:srgbClr val="212121"/>
                </a:solidFill>
                <a:latin typeface="Times New Roman"/>
              </a:rPr>
              <a:t>Manual seat allotment causes human error and disputes</a:t>
            </a:r>
          </a:p>
          <a:p>
            <a:pPr marL="0" marR="0" indent="0" hangingPunct="false" algn="l">
              <a:lnSpc>
                <a:spcPts val="1510"/>
              </a:lnSpc>
              <a:spcBef>
                <a:spcPts val="1110"/>
              </a:spcBef>
              <a:spcAft>
                <a:spcPct val="0"/>
              </a:spcAft>
            </a:pPr>
            <a:r>
              <a:rPr lang="en-US" sz="1300" baseline="0" spc="32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7">
                <a:solidFill>
                  <a:srgbClr val="212121"/>
                </a:solidFill>
                <a:latin typeface="Times New Roman"/>
              </a:rPr>
              <a:t>Zero real-time visibility into seat availability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6446520" y="2136140"/>
            <a:ext cx="4022090" cy="200914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8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700" b="true" baseline="0" spc="-42">
                <a:solidFill>
                  <a:srgbClr val="FFFFFF"/>
                </a:solidFill>
                <a:latin typeface="Times New Roman"/>
              </a:rPr>
              <a:t>The ShowTime Solution</a:t>
            </a:r>
            <a:endParaRPr lang="en-US" sz="1100"/>
          </a:p>
          <a:p>
            <a:pPr marL="0" marR="0" indent="0" hangingPunct="false" algn="l">
              <a:lnSpc>
                <a:spcPts val="1510"/>
              </a:lnSpc>
              <a:spcBef>
                <a:spcPts val="1950"/>
              </a:spcBef>
              <a:spcAft>
                <a:spcPct val="0"/>
              </a:spcAft>
            </a:pPr>
            <a:r>
              <a:rPr lang="en-US" sz="1300" baseline="0" spc="32">
                <a:solidFill>
                  <a:srgbClr val="FFFFFF"/>
                </a:solidFill>
                <a:ea typeface="Times New Roman"/>
              </a:rPr>
              <a:t>▪</a:t>
            </a:r>
            <a:r>
              <a:rPr lang="en-US" sz="1300" baseline="0" spc="1">
                <a:solidFill>
                  <a:srgbClr val="FFFFFF"/>
                </a:solidFill>
                <a:latin typeface="Times New Roman"/>
              </a:rPr>
              <a:t>Book from anywhere, in a few taps, 24/7</a:t>
            </a:r>
          </a:p>
          <a:p>
            <a:pPr marL="0" marR="0" indent="0" hangingPunct="false" algn="l">
              <a:lnSpc>
                <a:spcPts val="1500"/>
              </a:lnSpc>
              <a:spcBef>
                <a:spcPts val="1110"/>
              </a:spcBef>
              <a:spcAft>
                <a:spcPct val="0"/>
              </a:spcAft>
            </a:pPr>
            <a:r>
              <a:rPr lang="en-US" sz="1300" baseline="0" spc="32">
                <a:solidFill>
                  <a:srgbClr val="FFFFFF"/>
                </a:solidFill>
                <a:ea typeface="Times New Roman"/>
              </a:rPr>
              <a:t>▪</a:t>
            </a:r>
            <a:r>
              <a:rPr lang="en-US" sz="1300" baseline="0" spc="-1">
                <a:solidFill>
                  <a:srgbClr val="FFFFFF"/>
                </a:solidFill>
                <a:latin typeface="Times New Roman"/>
              </a:rPr>
              <a:t>One platform listing every theater, screen and showtime</a:t>
            </a:r>
          </a:p>
          <a:p>
            <a:pPr marL="0" marR="0" indent="0" hangingPunct="false" algn="l">
              <a:lnSpc>
                <a:spcPts val="1500"/>
              </a:lnSpc>
              <a:spcBef>
                <a:spcPts val="1119"/>
              </a:spcBef>
              <a:spcAft>
                <a:spcPct val="0"/>
              </a:spcAft>
            </a:pPr>
            <a:r>
              <a:rPr lang="en-US" sz="1300" baseline="0" spc="32">
                <a:solidFill>
                  <a:srgbClr val="FFFFFF"/>
                </a:solidFill>
                <a:ea typeface="Times New Roman"/>
              </a:rPr>
              <a:t>▪</a:t>
            </a:r>
            <a:r>
              <a:rPr lang="en-US" sz="1300" baseline="0" spc="0">
                <a:solidFill>
                  <a:srgbClr val="FFFFFF"/>
                </a:solidFill>
                <a:latin typeface="Times New Roman"/>
              </a:rPr>
              <a:t>Visual seat map — pick your own seat with confidence</a:t>
            </a:r>
          </a:p>
          <a:p>
            <a:pPr marL="0" marR="0" indent="0" hangingPunct="false" algn="l">
              <a:lnSpc>
                <a:spcPts val="1500"/>
              </a:lnSpc>
              <a:spcBef>
                <a:spcPts val="1119"/>
              </a:spcBef>
              <a:spcAft>
                <a:spcPct val="0"/>
              </a:spcAft>
            </a:pPr>
            <a:r>
              <a:rPr lang="en-US" sz="1300" baseline="0" spc="32">
                <a:solidFill>
                  <a:srgbClr val="FFFFFF"/>
                </a:solidFill>
                <a:ea typeface="Times New Roman"/>
              </a:rPr>
              <a:t>▪</a:t>
            </a:r>
            <a:r>
              <a:rPr lang="en-US" sz="1300" baseline="0" spc="-3">
                <a:solidFill>
                  <a:srgbClr val="FFFFFF"/>
                </a:solidFill>
                <a:latin typeface="Times New Roman"/>
              </a:rPr>
              <a:t>Live seat locking prevents double-booking automatically</a:t>
            </a:r>
          </a:p>
          <a:p>
            <a:pPr marL="0" marR="0" indent="0" hangingPunct="false" algn="l">
              <a:lnSpc>
                <a:spcPts val="1500"/>
              </a:lnSpc>
              <a:spcBef>
                <a:spcPts val="1119"/>
              </a:spcBef>
              <a:spcAft>
                <a:spcPct val="0"/>
              </a:spcAft>
            </a:pPr>
            <a:r>
              <a:rPr lang="en-US" sz="1300" baseline="0" spc="32">
                <a:solidFill>
                  <a:srgbClr val="FFFFFF"/>
                </a:solidFill>
                <a:ea typeface="Times New Roman"/>
              </a:rPr>
              <a:t>▪</a:t>
            </a:r>
            <a:r>
              <a:rPr lang="en-US" sz="1300" baseline="0" spc="-18">
                <a:solidFill>
                  <a:srgbClr val="FFFFFF"/>
                </a:solidFill>
                <a:latin typeface="Times New Roman"/>
              </a:rPr>
              <a:t>Instant digital e-ticket and full booking history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822960" y="4160520"/>
            <a:ext cx="3699510" cy="1917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300" baseline="0" spc="32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1">
                <a:solidFill>
                  <a:srgbClr val="212121"/>
                </a:solidFill>
                <a:latin typeface="Times New Roman"/>
              </a:rPr>
              <a:t>Cash-heavy process with no digital record or receipt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2047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>
            <a:off x="457200" y="2468880"/>
            <a:ext cx="2043430" cy="1553210"/>
          </a:xfrm>
          <a:prstGeom prst="rect">
            <a:avLst/>
          </a:prstGeom>
          <a:solidFill>
            <a:srgbClr val="1F1F1F"/>
          </a:solidFill>
        </p:spPr>
      </p:sp>
      <p:sp>
        <p:nvSpPr>
          <p:cNvPr name="AutoShape 4" id="4"/>
          <p:cNvSpPr/>
          <p:nvPr/>
        </p:nvSpPr>
        <p:spPr>
          <a:xfrm>
            <a:off x="2758440" y="2468880"/>
            <a:ext cx="2042160" cy="1553210"/>
          </a:xfrm>
          <a:prstGeom prst="rect">
            <a:avLst/>
          </a:prstGeom>
          <a:solidFill>
            <a:srgbClr val="D2222A"/>
          </a:solidFill>
        </p:spPr>
      </p:sp>
      <p:sp>
        <p:nvSpPr>
          <p:cNvPr name="AutoShape 5" id="5"/>
          <p:cNvSpPr/>
          <p:nvPr/>
        </p:nvSpPr>
        <p:spPr>
          <a:xfrm>
            <a:off x="5058410" y="2468880"/>
            <a:ext cx="2043430" cy="1553210"/>
          </a:xfrm>
          <a:prstGeom prst="rect">
            <a:avLst/>
          </a:prstGeom>
          <a:solidFill>
            <a:srgbClr val="1F1F1F"/>
          </a:solidFill>
        </p:spPr>
      </p:sp>
      <p:sp>
        <p:nvSpPr>
          <p:cNvPr name="AutoShape 6" id="6"/>
          <p:cNvSpPr/>
          <p:nvPr/>
        </p:nvSpPr>
        <p:spPr>
          <a:xfrm>
            <a:off x="7359650" y="2468880"/>
            <a:ext cx="2042160" cy="1553210"/>
          </a:xfrm>
          <a:prstGeom prst="rect">
            <a:avLst/>
          </a:prstGeom>
          <a:solidFill>
            <a:srgbClr val="D2222A"/>
          </a:solidFill>
        </p:spPr>
      </p:sp>
      <p:sp>
        <p:nvSpPr>
          <p:cNvPr name="AutoShape 7" id="7"/>
          <p:cNvSpPr/>
          <p:nvPr/>
        </p:nvSpPr>
        <p:spPr>
          <a:xfrm>
            <a:off x="9659620" y="2468880"/>
            <a:ext cx="2043430" cy="1553210"/>
          </a:xfrm>
          <a:prstGeom prst="rect">
            <a:avLst/>
          </a:prstGeom>
          <a:solidFill>
            <a:srgbClr val="1F1F1F"/>
          </a:solidFill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8205470" y="121920"/>
            <a:ext cx="3846830" cy="119888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>
            <a:off x="457200" y="350520"/>
            <a:ext cx="180594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25">
                <a:solidFill>
                  <a:srgbClr val="D2232A"/>
                </a:solidFill>
                <a:latin typeface="Times New Roman"/>
              </a:rPr>
              <a:t>P R O P O S E D  S O L U T I O N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1305540" y="350520"/>
            <a:ext cx="38735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aseline="0" spc="25">
                <a:solidFill>
                  <a:srgbClr val="757575"/>
                </a:solidFill>
                <a:latin typeface="Times New Roman"/>
              </a:rPr>
              <a:t>03 / 12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457200" y="736600"/>
            <a:ext cx="10363200" cy="122555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355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3200" b="true" baseline="0" spc="-36">
                <a:solidFill>
                  <a:srgbClr val="212121"/>
                </a:solidFill>
                <a:latin typeface="Times New Roman"/>
              </a:rPr>
              <a:t>Solution Overview</a:t>
            </a:r>
            <a:endParaRPr lang="en-US" sz="1100"/>
          </a:p>
          <a:p>
            <a:pPr marL="0" marR="0" indent="0" hangingPunct="false" algn="l">
              <a:lnSpc>
                <a:spcPts val="1610"/>
              </a:lnSpc>
              <a:spcBef>
                <a:spcPts val="2750"/>
              </a:spcBef>
              <a:spcAft>
                <a:spcPct val="0"/>
              </a:spcAft>
            </a:pPr>
            <a:r>
              <a:rPr lang="en-US" sz="1450" baseline="0" spc="-20">
                <a:solidFill>
                  <a:srgbClr val="757575"/>
                </a:solidFill>
                <a:latin typeface="Times New Roman"/>
              </a:rPr>
              <a:t>ShowTime is a full-stack PHP &amp; MySQL web application that replicates the core booking experience of platforms like BookMyShow — </a:t>
            </a:r>
          </a:p>
          <a:p>
            <a:pPr marL="0" marR="0" indent="0" hangingPunct="false" algn="l">
              <a:lnSpc>
                <a:spcPts val="1610"/>
              </a:lnSpc>
              <a:spcBef>
                <a:spcPts val="129"/>
              </a:spcBef>
              <a:spcAft>
                <a:spcPct val="0"/>
              </a:spcAft>
            </a:pPr>
            <a:r>
              <a:rPr lang="en-US" sz="1450" baseline="0" spc="-17">
                <a:solidFill>
                  <a:srgbClr val="757575"/>
                </a:solidFill>
                <a:latin typeface="Times New Roman"/>
              </a:rPr>
              <a:t>from browsing movies to holding a confirmed, transaction-safe e-ticket.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594360" y="2650490"/>
            <a:ext cx="114300" cy="254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800" b="true" baseline="0">
                <a:solidFill>
                  <a:srgbClr val="999999"/>
                </a:solidFill>
                <a:latin typeface="Times New Roman"/>
              </a:rPr>
              <a:t>1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2894330" y="2650490"/>
            <a:ext cx="114300" cy="254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800" b="true" baseline="0">
                <a:solidFill>
                  <a:srgbClr val="999999"/>
                </a:solidFill>
                <a:latin typeface="Times New Roman"/>
              </a:rPr>
              <a:t>2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5195570" y="2650490"/>
            <a:ext cx="114300" cy="254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800" b="true" baseline="0">
                <a:solidFill>
                  <a:srgbClr val="999999"/>
                </a:solidFill>
                <a:latin typeface="Times New Roman"/>
              </a:rPr>
              <a:t>3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7495540" y="2650490"/>
            <a:ext cx="114300" cy="254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800" b="true" baseline="0">
                <a:solidFill>
                  <a:srgbClr val="999999"/>
                </a:solidFill>
                <a:latin typeface="Times New Roman"/>
              </a:rPr>
              <a:t>4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9796780" y="2650490"/>
            <a:ext cx="114300" cy="254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800" b="true" baseline="0">
                <a:solidFill>
                  <a:srgbClr val="999999"/>
                </a:solidFill>
                <a:latin typeface="Times New Roman"/>
              </a:rPr>
              <a:t>5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594360" y="3147060"/>
            <a:ext cx="1084580" cy="1828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4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300" b="true" baseline="0" spc="3">
                <a:solidFill>
                  <a:srgbClr val="FFFFFF"/>
                </a:solidFill>
                <a:latin typeface="Times New Roman"/>
              </a:rPr>
              <a:t>Browse Movies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2515870" y="3136900"/>
            <a:ext cx="1427480" cy="2527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9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800" baseline="0" spc="44">
                <a:solidFill>
                  <a:srgbClr val="757575"/>
                </a:solidFill>
                <a:latin typeface="Times New Roman"/>
              </a:rPr>
              <a:t>→</a:t>
            </a:r>
            <a:r>
              <a:rPr lang="en-US" sz="1300" b="true" baseline="30000" spc="0">
                <a:solidFill>
                  <a:srgbClr val="FFFFFF"/>
                </a:solidFill>
                <a:latin typeface="Times New Roman"/>
              </a:rPr>
              <a:t>Pick Showtime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4815840" y="3136900"/>
            <a:ext cx="1212850" cy="2527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9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800" baseline="0" spc="44">
                <a:solidFill>
                  <a:srgbClr val="757575"/>
                </a:solidFill>
                <a:latin typeface="Times New Roman"/>
              </a:rPr>
              <a:t>→</a:t>
            </a:r>
            <a:r>
              <a:rPr lang="en-US" sz="1300" b="true" baseline="30000" spc="12">
                <a:solidFill>
                  <a:srgbClr val="FFFFFF"/>
                </a:solidFill>
                <a:latin typeface="Times New Roman"/>
              </a:rPr>
              <a:t>Select Seats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7117080" y="3136900"/>
            <a:ext cx="1286510" cy="2527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9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800" baseline="0" spc="44">
                <a:solidFill>
                  <a:srgbClr val="757575"/>
                </a:solidFill>
                <a:latin typeface="Times New Roman"/>
              </a:rPr>
              <a:t>→</a:t>
            </a:r>
            <a:r>
              <a:rPr lang="en-US" sz="1300" b="true" baseline="30000" spc="6">
                <a:solidFill>
                  <a:srgbClr val="FFFFFF"/>
                </a:solidFill>
                <a:latin typeface="Times New Roman"/>
              </a:rPr>
              <a:t>Pay Securely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9417050" y="3136900"/>
            <a:ext cx="1250950" cy="2527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9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800" baseline="0" spc="44">
                <a:solidFill>
                  <a:srgbClr val="757575"/>
                </a:solidFill>
                <a:latin typeface="Times New Roman"/>
              </a:rPr>
              <a:t>→</a:t>
            </a:r>
            <a:r>
              <a:rPr lang="en-US" sz="1300" b="true" baseline="30000" spc="-32">
                <a:solidFill>
                  <a:srgbClr val="FFFFFF"/>
                </a:solidFill>
                <a:latin typeface="Times New Roman"/>
              </a:rPr>
              <a:t>Get E-Ticket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594360" y="3571240"/>
            <a:ext cx="1390650" cy="2997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aseline="0" spc="-1">
                <a:solidFill>
                  <a:srgbClr val="E0E0E0"/>
                </a:solidFill>
                <a:latin typeface="Times New Roman"/>
              </a:rPr>
              <a:t>Now Showing &amp; Coming </a:t>
            </a:r>
            <a:endParaRPr lang="en-US" sz="1100"/>
          </a:p>
          <a:p>
            <a:pPr marL="0" marR="0" indent="0" hangingPunct="false" algn="l">
              <a:lnSpc>
                <a:spcPts val="1100"/>
              </a:lnSpc>
              <a:spcBef>
                <a:spcPts val="150"/>
              </a:spcBef>
              <a:spcAft>
                <a:spcPct val="0"/>
              </a:spcAft>
            </a:pPr>
            <a:r>
              <a:rPr lang="en-US" sz="1000" baseline="0" spc="-5">
                <a:solidFill>
                  <a:srgbClr val="E0E0E0"/>
                </a:solidFill>
                <a:latin typeface="Times New Roman"/>
              </a:rPr>
              <a:t>Soon, search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2895600" y="3651250"/>
            <a:ext cx="1247140" cy="1409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aseline="0" spc="-2">
                <a:solidFill>
                  <a:srgbClr val="E0E0E0"/>
                </a:solidFill>
                <a:latin typeface="Times New Roman"/>
              </a:rPr>
              <a:t>By theater, date &amp; time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5195570" y="3651250"/>
            <a:ext cx="1315720" cy="1409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aseline="0" spc="1">
                <a:solidFill>
                  <a:srgbClr val="E0E0E0"/>
                </a:solidFill>
                <a:latin typeface="Times New Roman"/>
              </a:rPr>
              <a:t>Interactive live seat map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7496810" y="3651250"/>
            <a:ext cx="1507490" cy="1409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aseline="0" spc="-4">
                <a:solidFill>
                  <a:srgbClr val="E0E0E0"/>
                </a:solidFill>
                <a:latin typeface="Times New Roman"/>
              </a:rPr>
              <a:t>Simulated payment gateway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9796780" y="3651250"/>
            <a:ext cx="1581150" cy="1409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aseline="0" spc="-25">
                <a:solidFill>
                  <a:srgbClr val="E0E0E0"/>
                </a:solidFill>
                <a:latin typeface="Times New Roman"/>
              </a:rPr>
              <a:t>Instant confirmation &amp; history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457200" y="4509770"/>
            <a:ext cx="10477500" cy="134239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5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400" b="true" baseline="0" spc="-17">
                <a:solidFill>
                  <a:srgbClr val="212121"/>
                </a:solidFill>
                <a:latin typeface="Times New Roman"/>
              </a:rPr>
              <a:t>What makes it novel</a:t>
            </a:r>
            <a:endParaRPr lang="en-US" sz="1100"/>
          </a:p>
          <a:p>
            <a:pPr marL="0" marR="0" indent="0" hangingPunct="false" algn="l">
              <a:lnSpc>
                <a:spcPts val="1460"/>
              </a:lnSpc>
              <a:spcBef>
                <a:spcPts val="869"/>
              </a:spcBef>
              <a:spcAft>
                <a:spcPct val="0"/>
              </a:spcAft>
            </a:pPr>
            <a:r>
              <a:rPr lang="en-US" sz="1300" baseline="0" spc="5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1">
                <a:solidFill>
                  <a:srgbClr val="212121"/>
                </a:solidFill>
                <a:latin typeface="Times New Roman"/>
              </a:rPr>
              <a:t>Seat-level concurrency control: a DB transaction + a unique (show_id, seat_id) constraint stops two users from ever booking the same seat, even in a </a:t>
            </a:r>
          </a:p>
          <a:p>
            <a:pPr marL="177800" marR="0" indent="0" hangingPunct="false" algn="l">
              <a:lnSpc>
                <a:spcPts val="1440"/>
              </a:lnSpc>
              <a:spcBef>
                <a:spcPts val="120"/>
              </a:spcBef>
              <a:spcAft>
                <a:spcPct val="0"/>
              </a:spcAft>
            </a:pPr>
            <a:r>
              <a:rPr lang="en-US" sz="1300" baseline="0" spc="-32">
                <a:solidFill>
                  <a:srgbClr val="212121"/>
                </a:solidFill>
                <a:latin typeface="Times New Roman"/>
              </a:rPr>
              <a:t>race condition</a:t>
            </a:r>
          </a:p>
          <a:p>
            <a:pPr marL="0" marR="0" indent="0" hangingPunct="false" algn="l">
              <a:lnSpc>
                <a:spcPts val="1460"/>
              </a:lnSpc>
              <a:spcBef>
                <a:spcPts val="1110"/>
              </a:spcBef>
              <a:spcAft>
                <a:spcPct val="0"/>
              </a:spcAft>
            </a:pPr>
            <a:r>
              <a:rPr lang="en-US" sz="1300" baseline="0" spc="5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5">
                <a:solidFill>
                  <a:srgbClr val="212121"/>
                </a:solidFill>
                <a:latin typeface="Times New Roman"/>
              </a:rPr>
              <a:t>Seat layouts are auto-generated per screen — no manual seat data entry needed</a:t>
            </a:r>
          </a:p>
          <a:p>
            <a:pPr marL="0" marR="0" indent="0" hangingPunct="false" algn="l">
              <a:lnSpc>
                <a:spcPts val="1460"/>
              </a:lnSpc>
              <a:spcBef>
                <a:spcPts val="1100"/>
              </a:spcBef>
              <a:spcAft>
                <a:spcPct val="0"/>
              </a:spcAft>
            </a:pPr>
            <a:r>
              <a:rPr lang="en-US" sz="1300" baseline="0" spc="5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4">
                <a:solidFill>
                  <a:srgbClr val="212121"/>
                </a:solidFill>
                <a:latin typeface="Times New Roman"/>
              </a:rPr>
              <a:t>Clean separation of a public booking flow and a role-protected admin console in one codebase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2047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>
            <a:off x="457200" y="1920240"/>
            <a:ext cx="2029460" cy="3564890"/>
          </a:xfrm>
          <a:prstGeom prst="rect">
            <a:avLst/>
          </a:prstGeom>
          <a:solidFill>
            <a:srgbClr val="F5F5F5"/>
          </a:solidFill>
        </p:spPr>
      </p:sp>
      <p:sp>
        <p:nvSpPr>
          <p:cNvPr name="AutoShape 4" id="4"/>
          <p:cNvSpPr/>
          <p:nvPr/>
        </p:nvSpPr>
        <p:spPr>
          <a:xfrm>
            <a:off x="685800" y="2194560"/>
            <a:ext cx="502920" cy="502920"/>
          </a:xfrm>
          <a:prstGeom prst="rect">
            <a:avLst/>
          </a:prstGeom>
          <a:solidFill>
            <a:srgbClr val="D2222A"/>
          </a:solidFill>
        </p:spPr>
      </p:sp>
      <p:sp>
        <p:nvSpPr>
          <p:cNvPr name="AutoShape 5" id="5"/>
          <p:cNvSpPr/>
          <p:nvPr/>
        </p:nvSpPr>
        <p:spPr>
          <a:xfrm>
            <a:off x="2760980" y="1920240"/>
            <a:ext cx="2030730" cy="3564890"/>
          </a:xfrm>
          <a:prstGeom prst="rect">
            <a:avLst/>
          </a:prstGeom>
          <a:solidFill>
            <a:srgbClr val="F5F5F5"/>
          </a:solidFill>
        </p:spPr>
      </p:sp>
      <p:sp>
        <p:nvSpPr>
          <p:cNvPr name="AutoShape 6" id="6"/>
          <p:cNvSpPr/>
          <p:nvPr/>
        </p:nvSpPr>
        <p:spPr>
          <a:xfrm>
            <a:off x="2989580" y="2194560"/>
            <a:ext cx="504190" cy="502920"/>
          </a:xfrm>
          <a:prstGeom prst="rect">
            <a:avLst/>
          </a:prstGeom>
          <a:solidFill>
            <a:srgbClr val="1F1F1F"/>
          </a:solidFill>
        </p:spPr>
      </p:sp>
      <p:sp>
        <p:nvSpPr>
          <p:cNvPr name="AutoShape 7" id="7"/>
          <p:cNvSpPr/>
          <p:nvPr/>
        </p:nvSpPr>
        <p:spPr>
          <a:xfrm>
            <a:off x="5066030" y="1920240"/>
            <a:ext cx="2028190" cy="3564890"/>
          </a:xfrm>
          <a:prstGeom prst="rect">
            <a:avLst/>
          </a:prstGeom>
          <a:solidFill>
            <a:srgbClr val="F5F5F5"/>
          </a:solidFill>
        </p:spPr>
      </p:sp>
      <p:sp>
        <p:nvSpPr>
          <p:cNvPr name="AutoShape 8" id="8"/>
          <p:cNvSpPr/>
          <p:nvPr/>
        </p:nvSpPr>
        <p:spPr>
          <a:xfrm>
            <a:off x="5294630" y="2194560"/>
            <a:ext cx="502920" cy="502920"/>
          </a:xfrm>
          <a:prstGeom prst="rect">
            <a:avLst/>
          </a:prstGeom>
          <a:solidFill>
            <a:srgbClr val="2E7D32"/>
          </a:solidFill>
        </p:spPr>
      </p:sp>
      <p:sp>
        <p:nvSpPr>
          <p:cNvPr name="AutoShape 9" id="9"/>
          <p:cNvSpPr/>
          <p:nvPr/>
        </p:nvSpPr>
        <p:spPr>
          <a:xfrm>
            <a:off x="7369810" y="1920240"/>
            <a:ext cx="2029460" cy="3564890"/>
          </a:xfrm>
          <a:prstGeom prst="rect">
            <a:avLst/>
          </a:prstGeom>
          <a:solidFill>
            <a:srgbClr val="F5F5F5"/>
          </a:solidFill>
        </p:spPr>
      </p:sp>
      <p:sp>
        <p:nvSpPr>
          <p:cNvPr name="AutoShape 10" id="10"/>
          <p:cNvSpPr/>
          <p:nvPr/>
        </p:nvSpPr>
        <p:spPr>
          <a:xfrm>
            <a:off x="7598410" y="2194560"/>
            <a:ext cx="502920" cy="502920"/>
          </a:xfrm>
          <a:prstGeom prst="rect">
            <a:avLst/>
          </a:prstGeom>
          <a:solidFill>
            <a:srgbClr val="7B1FA2"/>
          </a:solidFill>
        </p:spPr>
      </p:sp>
      <p:sp>
        <p:nvSpPr>
          <p:cNvPr name="AutoShape 11" id="11"/>
          <p:cNvSpPr/>
          <p:nvPr/>
        </p:nvSpPr>
        <p:spPr>
          <a:xfrm>
            <a:off x="9674860" y="1920240"/>
            <a:ext cx="2029460" cy="3564890"/>
          </a:xfrm>
          <a:prstGeom prst="rect">
            <a:avLst/>
          </a:prstGeom>
          <a:solidFill>
            <a:srgbClr val="F5F5F5"/>
          </a:solidFill>
        </p:spPr>
      </p:sp>
      <p:sp>
        <p:nvSpPr>
          <p:cNvPr name="AutoShape 12" id="12"/>
          <p:cNvSpPr/>
          <p:nvPr/>
        </p:nvSpPr>
        <p:spPr>
          <a:xfrm>
            <a:off x="9903460" y="2194560"/>
            <a:ext cx="502920" cy="502920"/>
          </a:xfrm>
          <a:prstGeom prst="rect">
            <a:avLst/>
          </a:prstGeom>
          <a:solidFill>
            <a:srgbClr val="EF6C00"/>
          </a:solidFill>
        </p:spPr>
      </p:sp>
      <p:sp>
        <p:nvSpPr>
          <p:cNvPr name="AutoShape 13" id="13"/>
          <p:cNvSpPr/>
          <p:nvPr/>
        </p:nvSpPr>
        <p:spPr>
          <a:xfrm>
            <a:off x="457200" y="1920240"/>
            <a:ext cx="2029460" cy="3564890"/>
          </a:xfrm>
          <a:prstGeom prst="rect">
            <a:avLst/>
          </a:prstGeom>
          <a:ln w="12600" cmpd="sng">
            <a:solidFill>
              <a:srgbClr val="E0E0E0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2760980" y="1920240"/>
            <a:ext cx="2030730" cy="3564890"/>
          </a:xfrm>
          <a:prstGeom prst="rect">
            <a:avLst/>
          </a:prstGeom>
          <a:ln w="12600" cmpd="sng">
            <a:solidFill>
              <a:srgbClr val="E0E0E0"/>
            </a:solidFill>
          </a:ln>
        </p:spPr>
      </p:sp>
      <p:sp>
        <p:nvSpPr>
          <p:cNvPr name="AutoShape 15" id="15"/>
          <p:cNvSpPr/>
          <p:nvPr/>
        </p:nvSpPr>
        <p:spPr>
          <a:xfrm>
            <a:off x="5066030" y="1920240"/>
            <a:ext cx="2028190" cy="3564890"/>
          </a:xfrm>
          <a:prstGeom prst="rect">
            <a:avLst/>
          </a:prstGeom>
          <a:ln w="12600" cmpd="sng">
            <a:solidFill>
              <a:srgbClr val="E0E0E0"/>
            </a:solidFill>
          </a:ln>
        </p:spPr>
      </p:sp>
      <p:sp>
        <p:nvSpPr>
          <p:cNvPr name="AutoShape 16" id="16"/>
          <p:cNvSpPr/>
          <p:nvPr/>
        </p:nvSpPr>
        <p:spPr>
          <a:xfrm>
            <a:off x="7369810" y="1920240"/>
            <a:ext cx="2029460" cy="3564890"/>
          </a:xfrm>
          <a:prstGeom prst="rect">
            <a:avLst/>
          </a:prstGeom>
          <a:ln w="12600" cmpd="sng">
            <a:solidFill>
              <a:srgbClr val="E0E0E0"/>
            </a:solidFill>
          </a:ln>
        </p:spPr>
      </p:sp>
      <p:sp>
        <p:nvSpPr>
          <p:cNvPr name="AutoShape 17" id="17"/>
          <p:cNvSpPr/>
          <p:nvPr/>
        </p:nvSpPr>
        <p:spPr>
          <a:xfrm>
            <a:off x="9674860" y="1920240"/>
            <a:ext cx="2029460" cy="3564890"/>
          </a:xfrm>
          <a:prstGeom prst="rect">
            <a:avLst/>
          </a:prstGeom>
          <a:ln w="12600" cmpd="sng">
            <a:solidFill>
              <a:srgbClr val="E0E0E0"/>
            </a:solidFill>
          </a:ln>
        </p:spPr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8434070" y="190500"/>
            <a:ext cx="3848100" cy="120015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>
            <a:off x="457200" y="350520"/>
            <a:ext cx="103632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25">
                <a:solidFill>
                  <a:srgbClr val="D2232A"/>
                </a:solidFill>
                <a:latin typeface="Times New Roman"/>
              </a:rPr>
              <a:t>O B J E C T I V E S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1305540" y="350520"/>
            <a:ext cx="38735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aseline="0" spc="25">
                <a:solidFill>
                  <a:srgbClr val="757575"/>
                </a:solidFill>
                <a:latin typeface="Times New Roman"/>
              </a:rPr>
              <a:t>04 / 12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457200" y="737870"/>
            <a:ext cx="3158490" cy="4495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35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3200" b="true" baseline="0" spc="18">
                <a:solidFill>
                  <a:srgbClr val="212121"/>
                </a:solidFill>
                <a:latin typeface="Times New Roman"/>
              </a:rPr>
              <a:t>Project Objectives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873760" y="2335530"/>
            <a:ext cx="114300" cy="254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800" b="true" baseline="0">
                <a:solidFill>
                  <a:srgbClr val="FFFFFF"/>
                </a:solidFill>
                <a:latin typeface="Times New Roman"/>
              </a:rPr>
              <a:t>1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3177540" y="2335530"/>
            <a:ext cx="114300" cy="254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800" b="true" baseline="0">
                <a:solidFill>
                  <a:srgbClr val="FFFFFF"/>
                </a:solidFill>
                <a:latin typeface="Times New Roman"/>
              </a:rPr>
              <a:t>2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5482590" y="2335530"/>
            <a:ext cx="114300" cy="254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800" b="true" baseline="0">
                <a:solidFill>
                  <a:srgbClr val="FFFFFF"/>
                </a:solidFill>
                <a:latin typeface="Times New Roman"/>
              </a:rPr>
              <a:t>3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7786370" y="2335530"/>
            <a:ext cx="114300" cy="254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800" b="true" baseline="0">
                <a:solidFill>
                  <a:srgbClr val="FFFFFF"/>
                </a:solidFill>
                <a:latin typeface="Times New Roman"/>
              </a:rPr>
              <a:t>4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10091420" y="2335530"/>
            <a:ext cx="114300" cy="254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800" b="true" baseline="0">
                <a:solidFill>
                  <a:srgbClr val="FFFFFF"/>
                </a:solidFill>
                <a:latin typeface="Times New Roman"/>
              </a:rPr>
              <a:t>5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657860" y="3159760"/>
            <a:ext cx="1358900" cy="19685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5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400" b="true" baseline="0" spc="-34">
                <a:solidFill>
                  <a:srgbClr val="212121"/>
                </a:solidFill>
                <a:latin typeface="Times New Roman"/>
              </a:rPr>
              <a:t>Automate Booking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2962910" y="3053080"/>
            <a:ext cx="946150" cy="4102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5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400" b="true" baseline="0" spc="-3">
                <a:solidFill>
                  <a:srgbClr val="212121"/>
                </a:solidFill>
                <a:latin typeface="Times New Roman"/>
              </a:rPr>
              <a:t>Prevent </a:t>
            </a:r>
            <a:endParaRPr lang="en-US" sz="1100"/>
          </a:p>
          <a:p>
            <a:pPr marL="0" marR="0" indent="0" hangingPunct="false" algn="l">
              <a:lnSpc>
                <a:spcPts val="1550"/>
              </a:lnSpc>
              <a:spcBef>
                <a:spcPts val="129"/>
              </a:spcBef>
              <a:spcAft>
                <a:spcPct val="0"/>
              </a:spcAft>
            </a:pPr>
            <a:r>
              <a:rPr lang="en-US" sz="1400" b="true" baseline="0" spc="-34">
                <a:solidFill>
                  <a:srgbClr val="212121"/>
                </a:solidFill>
                <a:latin typeface="Times New Roman"/>
              </a:rPr>
              <a:t>Overbooking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5266690" y="3159760"/>
            <a:ext cx="1074420" cy="19685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5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400" b="true" baseline="0" spc="14">
                <a:solidFill>
                  <a:srgbClr val="212121"/>
                </a:solidFill>
                <a:latin typeface="Times New Roman"/>
              </a:rPr>
              <a:t>Secure Access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7571740" y="3159760"/>
            <a:ext cx="1102360" cy="19685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5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400" b="true" baseline="0" spc="-34">
                <a:solidFill>
                  <a:srgbClr val="212121"/>
                </a:solidFill>
                <a:latin typeface="Times New Roman"/>
              </a:rPr>
              <a:t>Admin Insights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9875520" y="3159760"/>
            <a:ext cx="666750" cy="19685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5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400" b="true" baseline="0" spc="-34">
                <a:solidFill>
                  <a:srgbClr val="212121"/>
                </a:solidFill>
                <a:latin typeface="Times New Roman"/>
              </a:rPr>
              <a:t>Great UX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>
            <a:off x="657860" y="4142740"/>
            <a:ext cx="1236980" cy="1625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8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50" baseline="0" spc="-3">
                <a:solidFill>
                  <a:srgbClr val="757575"/>
                </a:solidFill>
                <a:latin typeface="Times New Roman"/>
              </a:rPr>
              <a:t>Replace manual, in-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2962910" y="4142740"/>
            <a:ext cx="1570990" cy="1625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8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50" baseline="0" spc="-6">
                <a:solidFill>
                  <a:srgbClr val="757575"/>
                </a:solidFill>
                <a:latin typeface="Times New Roman"/>
              </a:rPr>
              <a:t>Guarantee accuracy with 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5266690" y="4142740"/>
            <a:ext cx="1334770" cy="1625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8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50" baseline="0" spc="-2">
                <a:solidFill>
                  <a:srgbClr val="757575"/>
                </a:solidFill>
                <a:latin typeface="Times New Roman"/>
              </a:rPr>
              <a:t>Hashed passwords &amp; 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7571740" y="4142740"/>
            <a:ext cx="1167130" cy="1625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8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50" baseline="0" spc="-28">
                <a:solidFill>
                  <a:srgbClr val="757575"/>
                </a:solidFill>
                <a:latin typeface="Times New Roman"/>
              </a:rPr>
              <a:t>Live dashboard for 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9875520" y="4142740"/>
            <a:ext cx="1579880" cy="1625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8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50" baseline="0" spc="-3">
                <a:solidFill>
                  <a:srgbClr val="757575"/>
                </a:solidFill>
                <a:latin typeface="Times New Roman"/>
              </a:rPr>
              <a:t>Fast, responsive booking </a:t>
            </a:r>
            <a:endParaRPr lang="en-US" sz="1100"/>
          </a:p>
        </p:txBody>
      </p:sp>
      <p:sp>
        <p:nvSpPr>
          <p:cNvPr name="TextBox 37" id="37"/>
          <p:cNvSpPr txBox="true"/>
          <p:nvPr/>
        </p:nvSpPr>
        <p:spPr>
          <a:xfrm>
            <a:off x="657860" y="4318000"/>
            <a:ext cx="1403350" cy="1625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8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50" baseline="0" spc="-15">
                <a:solidFill>
                  <a:srgbClr val="757575"/>
                </a:solidFill>
                <a:latin typeface="Times New Roman"/>
              </a:rPr>
              <a:t>person ticketing with a </a:t>
            </a:r>
            <a:endParaRPr lang="en-US" sz="1100"/>
          </a:p>
        </p:txBody>
      </p:sp>
      <p:sp>
        <p:nvSpPr>
          <p:cNvPr name="TextBox 38" id="38"/>
          <p:cNvSpPr txBox="true"/>
          <p:nvPr/>
        </p:nvSpPr>
        <p:spPr>
          <a:xfrm>
            <a:off x="2962910" y="4318000"/>
            <a:ext cx="1299210" cy="1625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8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50" baseline="0" spc="-2">
                <a:solidFill>
                  <a:srgbClr val="757575"/>
                </a:solidFill>
                <a:latin typeface="Times New Roman"/>
              </a:rPr>
              <a:t>transaction-safe seat </a:t>
            </a:r>
            <a:endParaRPr lang="en-US" sz="1100"/>
          </a:p>
        </p:txBody>
      </p:sp>
      <p:sp>
        <p:nvSpPr>
          <p:cNvPr name="TextBox 39" id="39"/>
          <p:cNvSpPr txBox="true"/>
          <p:nvPr/>
        </p:nvSpPr>
        <p:spPr>
          <a:xfrm>
            <a:off x="5266690" y="4318000"/>
            <a:ext cx="886460" cy="1625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8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50" baseline="0" spc="7">
                <a:solidFill>
                  <a:srgbClr val="757575"/>
                </a:solidFill>
                <a:latin typeface="Times New Roman"/>
              </a:rPr>
              <a:t>session-based </a:t>
            </a:r>
            <a:endParaRPr lang="en-US" sz="1100"/>
          </a:p>
        </p:txBody>
      </p:sp>
      <p:sp>
        <p:nvSpPr>
          <p:cNvPr name="TextBox 40" id="40"/>
          <p:cNvSpPr txBox="true"/>
          <p:nvPr/>
        </p:nvSpPr>
        <p:spPr>
          <a:xfrm>
            <a:off x="7571740" y="4318000"/>
            <a:ext cx="1325880" cy="1625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8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50" baseline="0" spc="3">
                <a:solidFill>
                  <a:srgbClr val="757575"/>
                </a:solidFill>
                <a:latin typeface="Times New Roman"/>
              </a:rPr>
              <a:t>revenue, bookings &amp; </a:t>
            </a:r>
            <a:endParaRPr lang="en-US" sz="1100"/>
          </a:p>
        </p:txBody>
      </p:sp>
      <p:sp>
        <p:nvSpPr>
          <p:cNvPr name="TextBox 41" id="41"/>
          <p:cNvSpPr txBox="true"/>
          <p:nvPr/>
        </p:nvSpPr>
        <p:spPr>
          <a:xfrm>
            <a:off x="9875520" y="4318000"/>
            <a:ext cx="1159511" cy="1625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8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50" baseline="0" spc="5">
                <a:solidFill>
                  <a:srgbClr val="757575"/>
                </a:solidFill>
                <a:latin typeface="Times New Roman"/>
              </a:rPr>
              <a:t>experience on any </a:t>
            </a:r>
            <a:endParaRPr lang="en-US" sz="1100"/>
          </a:p>
        </p:txBody>
      </p:sp>
      <p:sp>
        <p:nvSpPr>
          <p:cNvPr name="TextBox 42" id="42"/>
          <p:cNvSpPr txBox="true"/>
          <p:nvPr/>
        </p:nvSpPr>
        <p:spPr>
          <a:xfrm>
            <a:off x="657860" y="4493260"/>
            <a:ext cx="1460500" cy="1625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8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50" baseline="0" spc="28">
                <a:solidFill>
                  <a:srgbClr val="757575"/>
                </a:solidFill>
                <a:latin typeface="Times New Roman"/>
              </a:rPr>
              <a:t>self-service online flow</a:t>
            </a:r>
            <a:endParaRPr lang="en-US" sz="1100"/>
          </a:p>
        </p:txBody>
      </p:sp>
      <p:sp>
        <p:nvSpPr>
          <p:cNvPr name="TextBox 43" id="43"/>
          <p:cNvSpPr txBox="true"/>
          <p:nvPr/>
        </p:nvSpPr>
        <p:spPr>
          <a:xfrm>
            <a:off x="2962910" y="4493260"/>
            <a:ext cx="436880" cy="1625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8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50" baseline="0" spc="-28">
                <a:solidFill>
                  <a:srgbClr val="757575"/>
                </a:solidFill>
                <a:latin typeface="Times New Roman"/>
              </a:rPr>
              <a:t>locking</a:t>
            </a:r>
            <a:endParaRPr lang="en-US" sz="1100"/>
          </a:p>
        </p:txBody>
      </p:sp>
      <p:sp>
        <p:nvSpPr>
          <p:cNvPr name="TextBox 44" id="44"/>
          <p:cNvSpPr txBox="true"/>
          <p:nvPr/>
        </p:nvSpPr>
        <p:spPr>
          <a:xfrm>
            <a:off x="5266690" y="4493260"/>
            <a:ext cx="831850" cy="1625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8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50" baseline="0" spc="-28">
                <a:solidFill>
                  <a:srgbClr val="757575"/>
                </a:solidFill>
                <a:latin typeface="Times New Roman"/>
              </a:rPr>
              <a:t>authentication</a:t>
            </a:r>
            <a:endParaRPr lang="en-US" sz="1100"/>
          </a:p>
        </p:txBody>
      </p:sp>
      <p:sp>
        <p:nvSpPr>
          <p:cNvPr name="TextBox 45" id="45"/>
          <p:cNvSpPr txBox="true"/>
          <p:nvPr/>
        </p:nvSpPr>
        <p:spPr>
          <a:xfrm>
            <a:off x="7571740" y="4493260"/>
            <a:ext cx="314960" cy="1625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8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50" baseline="0" spc="2">
                <a:solidFill>
                  <a:srgbClr val="757575"/>
                </a:solidFill>
                <a:latin typeface="Times New Roman"/>
              </a:rPr>
              <a:t>users</a:t>
            </a:r>
            <a:endParaRPr lang="en-US" sz="1100"/>
          </a:p>
        </p:txBody>
      </p:sp>
      <p:sp>
        <p:nvSpPr>
          <p:cNvPr name="TextBox 46" id="46"/>
          <p:cNvSpPr txBox="true"/>
          <p:nvPr/>
        </p:nvSpPr>
        <p:spPr>
          <a:xfrm>
            <a:off x="9875520" y="4493260"/>
            <a:ext cx="398780" cy="1625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8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50" baseline="0" spc="28">
                <a:solidFill>
                  <a:srgbClr val="757575"/>
                </a:solidFill>
                <a:latin typeface="Times New Roman"/>
              </a:rPr>
              <a:t>device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2047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>
            <a:off x="614680" y="5560060"/>
            <a:ext cx="5281930" cy="610870"/>
          </a:xfrm>
          <a:prstGeom prst="rect">
            <a:avLst/>
          </a:prstGeom>
          <a:solidFill>
            <a:srgbClr val="F5F5F5"/>
          </a:solidFill>
        </p:spPr>
      </p:sp>
      <p:sp>
        <p:nvSpPr>
          <p:cNvPr name="AutoShape 4" id="4"/>
          <p:cNvSpPr/>
          <p:nvPr/>
        </p:nvSpPr>
        <p:spPr>
          <a:xfrm>
            <a:off x="614680" y="5560060"/>
            <a:ext cx="5281930" cy="610870"/>
          </a:xfrm>
          <a:prstGeom prst="rect">
            <a:avLst/>
          </a:prstGeom>
          <a:ln w="12600" cmpd="sng">
            <a:solidFill>
              <a:srgbClr val="E0E0E0"/>
            </a:solidFill>
          </a:ln>
        </p:spPr>
      </p:sp>
      <p:sp>
        <p:nvSpPr>
          <p:cNvPr name="AutoShape 5" id="5"/>
          <p:cNvSpPr/>
          <p:nvPr/>
        </p:nvSpPr>
        <p:spPr>
          <a:xfrm>
            <a:off x="457200" y="1783080"/>
            <a:ext cx="5440680" cy="3290570"/>
          </a:xfrm>
          <a:prstGeom prst="rect">
            <a:avLst/>
          </a:prstGeom>
          <a:solidFill>
            <a:srgbClr val="F5F5F5"/>
          </a:solidFill>
        </p:spPr>
      </p:sp>
      <p:sp>
        <p:nvSpPr>
          <p:cNvPr name="AutoShape 6" id="6"/>
          <p:cNvSpPr/>
          <p:nvPr/>
        </p:nvSpPr>
        <p:spPr>
          <a:xfrm>
            <a:off x="6172200" y="1783080"/>
            <a:ext cx="5440680" cy="3290570"/>
          </a:xfrm>
          <a:prstGeom prst="rect">
            <a:avLst/>
          </a:prstGeom>
          <a:solidFill>
            <a:srgbClr val="D2222A"/>
          </a:solidFill>
        </p:spPr>
      </p:sp>
      <p:sp>
        <p:nvSpPr>
          <p:cNvPr name="AutoShape 7" id="7"/>
          <p:cNvSpPr/>
          <p:nvPr/>
        </p:nvSpPr>
        <p:spPr>
          <a:xfrm>
            <a:off x="457200" y="1783080"/>
            <a:ext cx="5440680" cy="3290570"/>
          </a:xfrm>
          <a:prstGeom prst="rect">
            <a:avLst/>
          </a:prstGeom>
          <a:ln w="12600" cmpd="sng">
            <a:solidFill>
              <a:srgbClr val="E0E0E0"/>
            </a:solidFill>
          </a:ln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8158480" y="52070"/>
            <a:ext cx="3848100" cy="120015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>
            <a:off x="457200" y="350520"/>
            <a:ext cx="101092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25">
                <a:solidFill>
                  <a:srgbClr val="D2232A"/>
                </a:solidFill>
                <a:latin typeface="Times New Roman"/>
              </a:rPr>
              <a:t>T E C H  S TA C K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1305540" y="350520"/>
            <a:ext cx="38735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aseline="0" spc="25">
                <a:solidFill>
                  <a:srgbClr val="757575"/>
                </a:solidFill>
                <a:latin typeface="Times New Roman"/>
              </a:rPr>
              <a:t>05 / 12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457200" y="737870"/>
            <a:ext cx="7214870" cy="4495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35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3200" b="true" baseline="0" spc="-4">
                <a:solidFill>
                  <a:srgbClr val="212121"/>
                </a:solidFill>
                <a:latin typeface="Times New Roman"/>
              </a:rPr>
              <a:t>Server Requirements &amp; Technology Stack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777240" y="2150110"/>
            <a:ext cx="1734820" cy="2171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7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550" b="true" baseline="0" spc="-5">
                <a:solidFill>
                  <a:srgbClr val="212121"/>
                </a:solidFill>
                <a:latin typeface="Times New Roman"/>
              </a:rPr>
              <a:t>Server Requirements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6492240" y="2150110"/>
            <a:ext cx="1478280" cy="2171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7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550" b="true" baseline="0" spc="-13">
                <a:solidFill>
                  <a:srgbClr val="FFFFFF"/>
                </a:solidFill>
                <a:latin typeface="Times New Roman"/>
              </a:rPr>
              <a:t>Technology Stack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777240" y="2578100"/>
            <a:ext cx="3642360" cy="8559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300" baseline="0" spc="15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32">
                <a:solidFill>
                  <a:srgbClr val="212121"/>
                </a:solidFill>
                <a:latin typeface="Times New Roman"/>
              </a:rPr>
              <a:t>Software: PHP 8.x, MySQL / MariaDB</a:t>
            </a:r>
            <a:endParaRPr lang="en-US" sz="1100"/>
          </a:p>
          <a:p>
            <a:pPr marL="0" marR="0" indent="0" hangingPunct="false" algn="l">
              <a:lnSpc>
                <a:spcPts val="1500"/>
              </a:lnSpc>
              <a:spcBef>
                <a:spcPts val="1110"/>
              </a:spcBef>
              <a:spcAft>
                <a:spcPct val="0"/>
              </a:spcAft>
            </a:pPr>
            <a:r>
              <a:rPr lang="en-US" sz="1300" baseline="0" spc="15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32">
                <a:solidFill>
                  <a:srgbClr val="212121"/>
                </a:solidFill>
                <a:latin typeface="Times New Roman"/>
              </a:rPr>
              <a:t>Local server: XAMPP / MAMP / PHP built-in server</a:t>
            </a:r>
          </a:p>
          <a:p>
            <a:pPr marL="0" marR="0" indent="0" hangingPunct="false" algn="l">
              <a:lnSpc>
                <a:spcPts val="1500"/>
              </a:lnSpc>
              <a:spcBef>
                <a:spcPts val="1119"/>
              </a:spcBef>
              <a:spcAft>
                <a:spcPct val="0"/>
              </a:spcAft>
            </a:pPr>
            <a:r>
              <a:rPr lang="en-US" sz="1300" baseline="0" spc="15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12">
                <a:solidFill>
                  <a:srgbClr val="212121"/>
                </a:solidFill>
                <a:latin typeface="Times New Roman"/>
              </a:rPr>
              <a:t>IDE: Visual Studio Code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6492240" y="2734310"/>
            <a:ext cx="576580" cy="77089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50" b="true" baseline="0" spc="-31">
                <a:solidFill>
                  <a:srgbClr val="FFD9DB"/>
                </a:solidFill>
                <a:latin typeface="Times New Roman"/>
              </a:rPr>
              <a:t>Frontend</a:t>
            </a:r>
            <a:endParaRPr lang="en-US" sz="1100"/>
          </a:p>
          <a:p>
            <a:pPr marL="0" marR="0" indent="0" hangingPunct="false" algn="l">
              <a:lnSpc>
                <a:spcPts val="1390"/>
              </a:lnSpc>
              <a:spcBef>
                <a:spcPts val="3290"/>
              </a:spcBef>
              <a:spcAft>
                <a:spcPct val="0"/>
              </a:spcAft>
            </a:pPr>
            <a:r>
              <a:rPr lang="en-US" sz="1250" b="true" baseline="0" spc="-11">
                <a:solidFill>
                  <a:srgbClr val="FFD9DB"/>
                </a:solidFill>
                <a:latin typeface="Times New Roman"/>
              </a:rPr>
              <a:t>Backend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8001000" y="2734310"/>
            <a:ext cx="2819400" cy="77089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50" baseline="0" spc="-31">
                <a:solidFill>
                  <a:srgbClr val="FFFFFF"/>
                </a:solidFill>
                <a:latin typeface="Times New Roman"/>
              </a:rPr>
              <a:t>HTML5, CSS3 (custom), Vanilla JavaScript</a:t>
            </a:r>
            <a:endParaRPr lang="en-US" sz="1100"/>
          </a:p>
          <a:p>
            <a:pPr marL="0" marR="0" indent="0" hangingPunct="false" algn="l">
              <a:lnSpc>
                <a:spcPts val="1390"/>
              </a:lnSpc>
              <a:spcBef>
                <a:spcPts val="3290"/>
              </a:spcBef>
              <a:spcAft>
                <a:spcPct val="0"/>
              </a:spcAft>
            </a:pPr>
            <a:r>
              <a:rPr lang="en-US" sz="1250" baseline="0" spc="-7">
                <a:solidFill>
                  <a:srgbClr val="FFFFFF"/>
                </a:solidFill>
                <a:latin typeface="Times New Roman"/>
              </a:rPr>
              <a:t>PHP 8 (PDO for database access)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777240" y="3576320"/>
            <a:ext cx="2073910" cy="1917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300" baseline="0" spc="32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32">
                <a:solidFill>
                  <a:srgbClr val="212121"/>
                </a:solidFill>
                <a:latin typeface="Times New Roman"/>
              </a:rPr>
              <a:t>Version control: Git &amp; GitHub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6492240" y="3923030"/>
            <a:ext cx="607060" cy="77089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50" b="true" baseline="0" spc="-31">
                <a:solidFill>
                  <a:srgbClr val="FFD9DB"/>
                </a:solidFill>
                <a:latin typeface="Times New Roman"/>
              </a:rPr>
              <a:t>Database</a:t>
            </a:r>
            <a:endParaRPr lang="en-US" sz="1100"/>
          </a:p>
          <a:p>
            <a:pPr marL="0" marR="0" indent="0" hangingPunct="false" algn="l">
              <a:lnSpc>
                <a:spcPts val="1390"/>
              </a:lnSpc>
              <a:spcBef>
                <a:spcPts val="3290"/>
              </a:spcBef>
              <a:spcAft>
                <a:spcPct val="0"/>
              </a:spcAft>
            </a:pPr>
            <a:r>
              <a:rPr lang="en-US" sz="1250" b="true" baseline="0" spc="-31">
                <a:solidFill>
                  <a:srgbClr val="FFD9DB"/>
                </a:solidFill>
                <a:latin typeface="Times New Roman"/>
              </a:rPr>
              <a:t>Tools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8001000" y="3923030"/>
            <a:ext cx="2026920" cy="77089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50" baseline="0" spc="-31">
                <a:solidFill>
                  <a:srgbClr val="FFFFFF"/>
                </a:solidFill>
                <a:latin typeface="Times New Roman"/>
              </a:rPr>
              <a:t>MySQL — 8 normalized tables</a:t>
            </a:r>
            <a:endParaRPr lang="en-US" sz="1100"/>
          </a:p>
          <a:p>
            <a:pPr marL="0" marR="0" indent="0" hangingPunct="false" algn="l">
              <a:lnSpc>
                <a:spcPts val="1390"/>
              </a:lnSpc>
              <a:spcBef>
                <a:spcPts val="3290"/>
              </a:spcBef>
              <a:spcAft>
                <a:spcPct val="0"/>
              </a:spcAft>
            </a:pPr>
            <a:r>
              <a:rPr lang="en-US" sz="1250" baseline="0" spc="-31">
                <a:solidFill>
                  <a:srgbClr val="FFFFFF"/>
                </a:solidFill>
                <a:latin typeface="Times New Roman"/>
              </a:rPr>
              <a:t>phpMyAdmin, XAMPP, Git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2047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>
            <a:off x="6802120" y="5421630"/>
            <a:ext cx="238761" cy="237490"/>
          </a:xfrm>
          <a:prstGeom prst="rect">
            <a:avLst/>
          </a:prstGeom>
          <a:solidFill>
            <a:srgbClr val="2E7D32"/>
          </a:solidFill>
        </p:spPr>
      </p:sp>
      <p:sp>
        <p:nvSpPr>
          <p:cNvPr name="AutoShape 4" id="4"/>
          <p:cNvSpPr/>
          <p:nvPr/>
        </p:nvSpPr>
        <p:spPr>
          <a:xfrm>
            <a:off x="7109460" y="5421630"/>
            <a:ext cx="237490" cy="237490"/>
          </a:xfrm>
          <a:prstGeom prst="rect">
            <a:avLst/>
          </a:prstGeom>
          <a:solidFill>
            <a:srgbClr val="2E7D32"/>
          </a:solidFill>
        </p:spPr>
      </p:sp>
      <p:sp>
        <p:nvSpPr>
          <p:cNvPr name="AutoShape 5" id="5"/>
          <p:cNvSpPr/>
          <p:nvPr/>
        </p:nvSpPr>
        <p:spPr>
          <a:xfrm>
            <a:off x="7415530" y="5421630"/>
            <a:ext cx="237489" cy="237490"/>
          </a:xfrm>
          <a:prstGeom prst="rect">
            <a:avLst/>
          </a:prstGeom>
          <a:solidFill>
            <a:srgbClr val="2E7D32"/>
          </a:solidFill>
        </p:spPr>
      </p:sp>
      <p:sp>
        <p:nvSpPr>
          <p:cNvPr name="AutoShape 6" id="6"/>
          <p:cNvSpPr/>
          <p:nvPr/>
        </p:nvSpPr>
        <p:spPr>
          <a:xfrm>
            <a:off x="5576570" y="5119370"/>
            <a:ext cx="23876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5883910" y="5119370"/>
            <a:ext cx="23622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6189980" y="5119370"/>
            <a:ext cx="23622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9" id="9"/>
          <p:cNvSpPr/>
          <p:nvPr/>
        </p:nvSpPr>
        <p:spPr>
          <a:xfrm>
            <a:off x="6496050" y="5119370"/>
            <a:ext cx="23749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6802120" y="5119370"/>
            <a:ext cx="238761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11" id="11"/>
          <p:cNvSpPr/>
          <p:nvPr/>
        </p:nvSpPr>
        <p:spPr>
          <a:xfrm>
            <a:off x="7109460" y="5119370"/>
            <a:ext cx="23749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12" id="12"/>
          <p:cNvSpPr/>
          <p:nvPr/>
        </p:nvSpPr>
        <p:spPr>
          <a:xfrm>
            <a:off x="7415530" y="5119370"/>
            <a:ext cx="237489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13" id="13"/>
          <p:cNvSpPr/>
          <p:nvPr/>
        </p:nvSpPr>
        <p:spPr>
          <a:xfrm>
            <a:off x="7721600" y="5119370"/>
            <a:ext cx="23749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8027670" y="5119370"/>
            <a:ext cx="23749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15" id="15"/>
          <p:cNvSpPr/>
          <p:nvPr/>
        </p:nvSpPr>
        <p:spPr>
          <a:xfrm>
            <a:off x="8333740" y="5119370"/>
            <a:ext cx="23876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16" id="16"/>
          <p:cNvSpPr/>
          <p:nvPr/>
        </p:nvSpPr>
        <p:spPr>
          <a:xfrm>
            <a:off x="8639810" y="5119370"/>
            <a:ext cx="23749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17" id="17"/>
          <p:cNvSpPr/>
          <p:nvPr/>
        </p:nvSpPr>
        <p:spPr>
          <a:xfrm>
            <a:off x="8947150" y="5119370"/>
            <a:ext cx="23622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18" id="18"/>
          <p:cNvSpPr/>
          <p:nvPr/>
        </p:nvSpPr>
        <p:spPr>
          <a:xfrm>
            <a:off x="5576570" y="5421630"/>
            <a:ext cx="238760" cy="23749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19" id="19"/>
          <p:cNvSpPr/>
          <p:nvPr/>
        </p:nvSpPr>
        <p:spPr>
          <a:xfrm>
            <a:off x="5883910" y="5421630"/>
            <a:ext cx="236220" cy="23749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20" id="20"/>
          <p:cNvSpPr/>
          <p:nvPr/>
        </p:nvSpPr>
        <p:spPr>
          <a:xfrm>
            <a:off x="6189980" y="5421630"/>
            <a:ext cx="236220" cy="23749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21" id="21"/>
          <p:cNvSpPr/>
          <p:nvPr/>
        </p:nvSpPr>
        <p:spPr>
          <a:xfrm>
            <a:off x="6496050" y="5421630"/>
            <a:ext cx="237490" cy="23749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22" id="22"/>
          <p:cNvSpPr/>
          <p:nvPr/>
        </p:nvSpPr>
        <p:spPr>
          <a:xfrm>
            <a:off x="6802120" y="5421630"/>
            <a:ext cx="238761" cy="237490"/>
          </a:xfrm>
          <a:prstGeom prst="rect">
            <a:avLst/>
          </a:prstGeom>
          <a:ln w="9360" cmpd="sng">
            <a:solidFill>
              <a:srgbClr val="2E7D32"/>
            </a:solidFill>
          </a:ln>
        </p:spPr>
      </p:sp>
      <p:sp>
        <p:nvSpPr>
          <p:cNvPr name="AutoShape 23" id="23"/>
          <p:cNvSpPr/>
          <p:nvPr/>
        </p:nvSpPr>
        <p:spPr>
          <a:xfrm>
            <a:off x="7109460" y="5421630"/>
            <a:ext cx="237490" cy="237490"/>
          </a:xfrm>
          <a:prstGeom prst="rect">
            <a:avLst/>
          </a:prstGeom>
          <a:ln w="9360" cmpd="sng">
            <a:solidFill>
              <a:srgbClr val="2E7D32"/>
            </a:solidFill>
          </a:ln>
        </p:spPr>
      </p:sp>
      <p:sp>
        <p:nvSpPr>
          <p:cNvPr name="AutoShape 24" id="24"/>
          <p:cNvSpPr/>
          <p:nvPr/>
        </p:nvSpPr>
        <p:spPr>
          <a:xfrm>
            <a:off x="7415530" y="5421630"/>
            <a:ext cx="237489" cy="237490"/>
          </a:xfrm>
          <a:prstGeom prst="rect">
            <a:avLst/>
          </a:prstGeom>
          <a:ln w="9360" cmpd="sng">
            <a:solidFill>
              <a:srgbClr val="2E7D32"/>
            </a:solidFill>
          </a:ln>
        </p:spPr>
      </p:sp>
      <p:sp>
        <p:nvSpPr>
          <p:cNvPr name="AutoShape 25" id="25"/>
          <p:cNvSpPr/>
          <p:nvPr/>
        </p:nvSpPr>
        <p:spPr>
          <a:xfrm>
            <a:off x="7721600" y="5421630"/>
            <a:ext cx="237490" cy="23749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26" id="26"/>
          <p:cNvSpPr/>
          <p:nvPr/>
        </p:nvSpPr>
        <p:spPr>
          <a:xfrm>
            <a:off x="8027670" y="5421630"/>
            <a:ext cx="237490" cy="23749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27" id="27"/>
          <p:cNvSpPr/>
          <p:nvPr/>
        </p:nvSpPr>
        <p:spPr>
          <a:xfrm>
            <a:off x="8333740" y="5421630"/>
            <a:ext cx="238760" cy="23749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28" id="28"/>
          <p:cNvSpPr/>
          <p:nvPr/>
        </p:nvSpPr>
        <p:spPr>
          <a:xfrm>
            <a:off x="8639810" y="5421630"/>
            <a:ext cx="237490" cy="23749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29" id="29"/>
          <p:cNvSpPr/>
          <p:nvPr/>
        </p:nvSpPr>
        <p:spPr>
          <a:xfrm>
            <a:off x="8947150" y="5421630"/>
            <a:ext cx="236220" cy="23749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30" id="30"/>
          <p:cNvSpPr/>
          <p:nvPr/>
        </p:nvSpPr>
        <p:spPr>
          <a:xfrm>
            <a:off x="5576570" y="5722620"/>
            <a:ext cx="23876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31" id="31"/>
          <p:cNvSpPr/>
          <p:nvPr/>
        </p:nvSpPr>
        <p:spPr>
          <a:xfrm>
            <a:off x="5883910" y="5722620"/>
            <a:ext cx="23622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32" id="32"/>
          <p:cNvSpPr/>
          <p:nvPr/>
        </p:nvSpPr>
        <p:spPr>
          <a:xfrm>
            <a:off x="6189980" y="5722620"/>
            <a:ext cx="23622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33" id="33"/>
          <p:cNvSpPr/>
          <p:nvPr/>
        </p:nvSpPr>
        <p:spPr>
          <a:xfrm>
            <a:off x="6496050" y="5722620"/>
            <a:ext cx="23749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34" id="34"/>
          <p:cNvSpPr/>
          <p:nvPr/>
        </p:nvSpPr>
        <p:spPr>
          <a:xfrm>
            <a:off x="6802120" y="5722620"/>
            <a:ext cx="238761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35" id="35"/>
          <p:cNvSpPr/>
          <p:nvPr/>
        </p:nvSpPr>
        <p:spPr>
          <a:xfrm>
            <a:off x="7109460" y="5722620"/>
            <a:ext cx="23749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36" id="36"/>
          <p:cNvSpPr/>
          <p:nvPr/>
        </p:nvSpPr>
        <p:spPr>
          <a:xfrm>
            <a:off x="7415530" y="5722620"/>
            <a:ext cx="237489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37" id="37"/>
          <p:cNvSpPr/>
          <p:nvPr/>
        </p:nvSpPr>
        <p:spPr>
          <a:xfrm>
            <a:off x="7721600" y="5722620"/>
            <a:ext cx="23749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38" id="38"/>
          <p:cNvSpPr/>
          <p:nvPr/>
        </p:nvSpPr>
        <p:spPr>
          <a:xfrm>
            <a:off x="8027670" y="5722620"/>
            <a:ext cx="23749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39" id="39"/>
          <p:cNvSpPr/>
          <p:nvPr/>
        </p:nvSpPr>
        <p:spPr>
          <a:xfrm>
            <a:off x="8333740" y="5722620"/>
            <a:ext cx="23876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40" id="40"/>
          <p:cNvSpPr/>
          <p:nvPr/>
        </p:nvSpPr>
        <p:spPr>
          <a:xfrm>
            <a:off x="8639810" y="5722620"/>
            <a:ext cx="23749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41" id="41"/>
          <p:cNvSpPr/>
          <p:nvPr/>
        </p:nvSpPr>
        <p:spPr>
          <a:xfrm>
            <a:off x="8947150" y="5722620"/>
            <a:ext cx="236220" cy="238760"/>
          </a:xfrm>
          <a:prstGeom prst="rect">
            <a:avLst/>
          </a:prstGeom>
          <a:ln w="9360" cmpd="sng">
            <a:solidFill>
              <a:srgbClr val="999999"/>
            </a:solidFill>
          </a:ln>
        </p:spPr>
      </p:sp>
      <p:sp>
        <p:nvSpPr>
          <p:cNvPr name="AutoShape 42" id="42"/>
          <p:cNvSpPr/>
          <p:nvPr/>
        </p:nvSpPr>
        <p:spPr>
          <a:xfrm>
            <a:off x="5303520" y="1691640"/>
            <a:ext cx="6308090" cy="502920"/>
          </a:xfrm>
          <a:prstGeom prst="rect">
            <a:avLst/>
          </a:prstGeom>
          <a:solidFill>
            <a:srgbClr val="1F1F1F"/>
          </a:solidFill>
        </p:spPr>
      </p:sp>
      <p:sp>
        <p:nvSpPr>
          <p:cNvPr name="AutoShape 43" id="43"/>
          <p:cNvSpPr/>
          <p:nvPr/>
        </p:nvSpPr>
        <p:spPr>
          <a:xfrm>
            <a:off x="5577840" y="2468880"/>
            <a:ext cx="1234440" cy="1965960"/>
          </a:xfrm>
          <a:prstGeom prst="rect">
            <a:avLst/>
          </a:prstGeom>
          <a:solidFill>
            <a:srgbClr val="5A5A5A"/>
          </a:solidFill>
        </p:spPr>
      </p:sp>
      <p:sp>
        <p:nvSpPr>
          <p:cNvPr name="AutoShape 44" id="44"/>
          <p:cNvSpPr/>
          <p:nvPr/>
        </p:nvSpPr>
        <p:spPr>
          <a:xfrm>
            <a:off x="6309360" y="2560320"/>
            <a:ext cx="411480" cy="25654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AutoShape 45" id="45"/>
          <p:cNvSpPr/>
          <p:nvPr/>
        </p:nvSpPr>
        <p:spPr>
          <a:xfrm>
            <a:off x="7086600" y="2468880"/>
            <a:ext cx="1234440" cy="1965960"/>
          </a:xfrm>
          <a:prstGeom prst="rect">
            <a:avLst/>
          </a:prstGeom>
          <a:solidFill>
            <a:srgbClr val="3A3A3A"/>
          </a:solidFill>
        </p:spPr>
      </p:sp>
      <p:sp>
        <p:nvSpPr>
          <p:cNvPr name="AutoShape 46" id="46"/>
          <p:cNvSpPr/>
          <p:nvPr/>
        </p:nvSpPr>
        <p:spPr>
          <a:xfrm>
            <a:off x="7818120" y="2560320"/>
            <a:ext cx="411480" cy="25654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AutoShape 47" id="47"/>
          <p:cNvSpPr/>
          <p:nvPr/>
        </p:nvSpPr>
        <p:spPr>
          <a:xfrm>
            <a:off x="8595360" y="2468880"/>
            <a:ext cx="1234440" cy="1965960"/>
          </a:xfrm>
          <a:prstGeom prst="rect">
            <a:avLst/>
          </a:prstGeom>
          <a:solidFill>
            <a:srgbClr val="5A5A5A"/>
          </a:solidFill>
        </p:spPr>
      </p:sp>
      <p:sp>
        <p:nvSpPr>
          <p:cNvPr name="AutoShape 48" id="48"/>
          <p:cNvSpPr/>
          <p:nvPr/>
        </p:nvSpPr>
        <p:spPr>
          <a:xfrm>
            <a:off x="9326880" y="2560320"/>
            <a:ext cx="411480" cy="25654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AutoShape 49" id="49"/>
          <p:cNvSpPr/>
          <p:nvPr/>
        </p:nvSpPr>
        <p:spPr>
          <a:xfrm>
            <a:off x="10104120" y="2468880"/>
            <a:ext cx="1234440" cy="1965960"/>
          </a:xfrm>
          <a:prstGeom prst="rect">
            <a:avLst/>
          </a:prstGeom>
          <a:solidFill>
            <a:srgbClr val="3A3A3A"/>
          </a:solidFill>
        </p:spPr>
      </p:sp>
      <p:sp>
        <p:nvSpPr>
          <p:cNvPr name="AutoShape 50" id="50"/>
          <p:cNvSpPr/>
          <p:nvPr/>
        </p:nvSpPr>
        <p:spPr>
          <a:xfrm>
            <a:off x="10835640" y="2560320"/>
            <a:ext cx="411480" cy="25654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AutoShape 51" id="51"/>
          <p:cNvSpPr/>
          <p:nvPr/>
        </p:nvSpPr>
        <p:spPr>
          <a:xfrm>
            <a:off x="5303520" y="1691640"/>
            <a:ext cx="6308090" cy="4479290"/>
          </a:xfrm>
          <a:prstGeom prst="rect">
            <a:avLst/>
          </a:prstGeom>
          <a:ln w="19080" cmpd="sng">
            <a:solidFill>
              <a:srgbClr val="E0E0E0"/>
            </a:solidFill>
          </a:ln>
        </p:spPr>
      </p:sp>
      <p:sp>
        <p:nvSpPr>
          <p:cNvPr name="AutoShape 52" id="52"/>
          <p:cNvSpPr/>
          <p:nvPr/>
        </p:nvSpPr>
        <p:spPr>
          <a:xfrm>
            <a:off x="10149840" y="1800860"/>
            <a:ext cx="1234440" cy="293370"/>
          </a:xfrm>
          <a:prstGeom prst="rect">
            <a:avLst/>
          </a:prstGeom>
          <a:ln w="12600" cmpd="sng">
            <a:solidFill>
              <a:srgbClr val="D2222A"/>
            </a:solidFill>
          </a:ln>
        </p:spPr>
      </p:sp>
      <p:pic>
        <p:nvPicPr>
          <p:cNvPr name="Picture 53" id="5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7975600" y="87630"/>
            <a:ext cx="3846830" cy="1198880"/>
          </a:xfrm>
          <a:prstGeom prst="rect">
            <a:avLst/>
          </a:prstGeom>
        </p:spPr>
      </p:pic>
      <p:sp>
        <p:nvSpPr>
          <p:cNvPr name="TextBox 54" id="54"/>
          <p:cNvSpPr txBox="true"/>
          <p:nvPr/>
        </p:nvSpPr>
        <p:spPr>
          <a:xfrm>
            <a:off x="457200" y="350520"/>
            <a:ext cx="179197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25">
                <a:solidFill>
                  <a:srgbClr val="D2232A"/>
                </a:solidFill>
                <a:latin typeface="Times New Roman"/>
              </a:rPr>
              <a:t>E N D  U S E R  I N T E R FA C E</a:t>
            </a:r>
            <a:endParaRPr lang="en-US" sz="1100"/>
          </a:p>
        </p:txBody>
      </p:sp>
      <p:sp>
        <p:nvSpPr>
          <p:cNvPr name="TextBox 55" id="55"/>
          <p:cNvSpPr txBox="true"/>
          <p:nvPr/>
        </p:nvSpPr>
        <p:spPr>
          <a:xfrm>
            <a:off x="11305540" y="350520"/>
            <a:ext cx="38735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aseline="0" spc="25">
                <a:solidFill>
                  <a:srgbClr val="757575"/>
                </a:solidFill>
                <a:latin typeface="Times New Roman"/>
              </a:rPr>
              <a:t>06 / 12</a:t>
            </a:r>
            <a:endParaRPr lang="en-US" sz="1100"/>
          </a:p>
        </p:txBody>
      </p:sp>
      <p:sp>
        <p:nvSpPr>
          <p:cNvPr name="TextBox 56" id="56"/>
          <p:cNvSpPr txBox="true"/>
          <p:nvPr/>
        </p:nvSpPr>
        <p:spPr>
          <a:xfrm>
            <a:off x="457200" y="737870"/>
            <a:ext cx="3150870" cy="4495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35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3200" b="true" baseline="0" spc="-80">
                <a:solidFill>
                  <a:srgbClr val="212121"/>
                </a:solidFill>
                <a:latin typeface="Times New Roman"/>
              </a:rPr>
              <a:t>End User Interface</a:t>
            </a:r>
            <a:endParaRPr lang="en-US" sz="1100"/>
          </a:p>
        </p:txBody>
      </p:sp>
      <p:sp>
        <p:nvSpPr>
          <p:cNvPr name="TextBox 57" id="57"/>
          <p:cNvSpPr txBox="true"/>
          <p:nvPr/>
        </p:nvSpPr>
        <p:spPr>
          <a:xfrm>
            <a:off x="457200" y="1709420"/>
            <a:ext cx="3713480" cy="3975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300" baseline="0" spc="32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11">
                <a:solidFill>
                  <a:srgbClr val="212121"/>
                </a:solidFill>
                <a:latin typeface="Times New Roman"/>
              </a:rPr>
              <a:t>Custom-built HTML5 + CSS3 UI (no template) in a </a:t>
            </a:r>
            <a:endParaRPr lang="en-US" sz="1100"/>
          </a:p>
          <a:p>
            <a:pPr marL="177800" marR="0" indent="0" hangingPunct="false" algn="l">
              <a:lnSpc>
                <a:spcPts val="1440"/>
              </a:lnSpc>
              <a:spcBef>
                <a:spcPts val="189"/>
              </a:spcBef>
              <a:spcAft>
                <a:spcPct val="0"/>
              </a:spcAft>
            </a:pPr>
            <a:r>
              <a:rPr lang="en-US" sz="1300" baseline="0" spc="-5">
                <a:solidFill>
                  <a:srgbClr val="212121"/>
                </a:solidFill>
                <a:latin typeface="Times New Roman"/>
              </a:rPr>
              <a:t>BookMyShow-style red &amp; dark theme</a:t>
            </a:r>
          </a:p>
        </p:txBody>
      </p:sp>
      <p:sp>
        <p:nvSpPr>
          <p:cNvPr name="TextBox 58" id="58"/>
          <p:cNvSpPr txBox="true"/>
          <p:nvPr/>
        </p:nvSpPr>
        <p:spPr>
          <a:xfrm>
            <a:off x="5532120" y="1868170"/>
            <a:ext cx="731520" cy="1828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4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300" b="true" baseline="0" spc="-11">
                <a:solidFill>
                  <a:srgbClr val="FFFFFF"/>
                </a:solidFill>
                <a:latin typeface="Times New Roman"/>
              </a:rPr>
              <a:t>Show</a:t>
            </a:r>
            <a:r>
              <a:rPr lang="en-US" sz="1300" b="true" baseline="0" spc="-32">
                <a:solidFill>
                  <a:srgbClr val="D2232A"/>
                </a:solidFill>
                <a:latin typeface="Times New Roman"/>
              </a:rPr>
              <a:t>Time</a:t>
            </a:r>
            <a:endParaRPr lang="en-US" sz="1100"/>
          </a:p>
        </p:txBody>
      </p:sp>
      <p:sp>
        <p:nvSpPr>
          <p:cNvPr name="TextBox 59" id="59"/>
          <p:cNvSpPr txBox="true"/>
          <p:nvPr/>
        </p:nvSpPr>
        <p:spPr>
          <a:xfrm>
            <a:off x="10589260" y="1892300"/>
            <a:ext cx="336550" cy="127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900" baseline="0" spc="-22">
                <a:solidFill>
                  <a:srgbClr val="D2232A"/>
                </a:solidFill>
                <a:latin typeface="Times New Roman"/>
              </a:rPr>
              <a:t>Sign In</a:t>
            </a:r>
            <a:endParaRPr lang="en-US" sz="1100"/>
          </a:p>
        </p:txBody>
      </p:sp>
      <p:sp>
        <p:nvSpPr>
          <p:cNvPr name="TextBox 60" id="60"/>
          <p:cNvSpPr txBox="true"/>
          <p:nvPr/>
        </p:nvSpPr>
        <p:spPr>
          <a:xfrm>
            <a:off x="457200" y="2247900"/>
            <a:ext cx="4052570" cy="3975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300" baseline="0" spc="15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0">
                <a:solidFill>
                  <a:srgbClr val="212121"/>
                </a:solidFill>
                <a:latin typeface="Times New Roman"/>
              </a:rPr>
              <a:t>Home page: Now Showing / Coming Soon grid with live </a:t>
            </a:r>
            <a:endParaRPr lang="en-US" sz="1100"/>
          </a:p>
          <a:p>
            <a:pPr marL="177800" marR="0" indent="0" hangingPunct="false" algn="l">
              <a:lnSpc>
                <a:spcPts val="1440"/>
              </a:lnSpc>
              <a:spcBef>
                <a:spcPts val="179"/>
              </a:spcBef>
              <a:spcAft>
                <a:spcPct val="0"/>
              </a:spcAft>
            </a:pPr>
            <a:r>
              <a:rPr lang="en-US" sz="1300" baseline="0" spc="-6">
                <a:solidFill>
                  <a:srgbClr val="212121"/>
                </a:solidFill>
                <a:latin typeface="Times New Roman"/>
              </a:rPr>
              <a:t>search</a:t>
            </a:r>
          </a:p>
        </p:txBody>
      </p:sp>
      <p:sp>
        <p:nvSpPr>
          <p:cNvPr name="TextBox 61" id="61"/>
          <p:cNvSpPr txBox="true"/>
          <p:nvPr/>
        </p:nvSpPr>
        <p:spPr>
          <a:xfrm>
            <a:off x="6379210" y="2649220"/>
            <a:ext cx="222250" cy="1143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750" baseline="0">
                <a:solidFill>
                  <a:srgbClr val="FFD700"/>
                </a:solidFill>
                <a:ea typeface="SimHei"/>
              </a:rPr>
              <a:t>★</a:t>
            </a:r>
            <a:r>
              <a:rPr lang="en-US" sz="750" baseline="0" spc="8">
                <a:solidFill>
                  <a:srgbClr val="FFD700"/>
                </a:solidFill>
                <a:latin typeface="Times New Roman"/>
              </a:rPr>
              <a:t>7.5</a:t>
            </a:r>
            <a:endParaRPr lang="en-US" sz="1100"/>
          </a:p>
        </p:txBody>
      </p:sp>
      <p:sp>
        <p:nvSpPr>
          <p:cNvPr name="TextBox 62" id="62"/>
          <p:cNvSpPr txBox="true"/>
          <p:nvPr/>
        </p:nvSpPr>
        <p:spPr>
          <a:xfrm>
            <a:off x="7887970" y="2649220"/>
            <a:ext cx="222250" cy="1143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750" baseline="0">
                <a:solidFill>
                  <a:srgbClr val="FFD700"/>
                </a:solidFill>
                <a:ea typeface="SimHei"/>
              </a:rPr>
              <a:t>★</a:t>
            </a:r>
            <a:r>
              <a:rPr lang="en-US" sz="750" baseline="0" spc="8">
                <a:solidFill>
                  <a:srgbClr val="FFD700"/>
                </a:solidFill>
                <a:latin typeface="Times New Roman"/>
              </a:rPr>
              <a:t>7.9</a:t>
            </a:r>
            <a:endParaRPr lang="en-US" sz="1100"/>
          </a:p>
        </p:txBody>
      </p:sp>
      <p:sp>
        <p:nvSpPr>
          <p:cNvPr name="TextBox 63" id="63"/>
          <p:cNvSpPr txBox="true"/>
          <p:nvPr/>
        </p:nvSpPr>
        <p:spPr>
          <a:xfrm>
            <a:off x="9396730" y="2649220"/>
            <a:ext cx="222250" cy="1143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750" baseline="0">
                <a:solidFill>
                  <a:srgbClr val="FFD700"/>
                </a:solidFill>
                <a:ea typeface="SimHei"/>
              </a:rPr>
              <a:t>★</a:t>
            </a:r>
            <a:r>
              <a:rPr lang="en-US" sz="750" baseline="0" spc="8">
                <a:solidFill>
                  <a:srgbClr val="FFD700"/>
                </a:solidFill>
                <a:latin typeface="Times New Roman"/>
              </a:rPr>
              <a:t>8.3</a:t>
            </a:r>
            <a:endParaRPr lang="en-US" sz="1100"/>
          </a:p>
        </p:txBody>
      </p:sp>
      <p:sp>
        <p:nvSpPr>
          <p:cNvPr name="TextBox 64" id="64"/>
          <p:cNvSpPr txBox="true"/>
          <p:nvPr/>
        </p:nvSpPr>
        <p:spPr>
          <a:xfrm>
            <a:off x="10905490" y="2649220"/>
            <a:ext cx="222250" cy="1143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750" baseline="0">
                <a:solidFill>
                  <a:srgbClr val="FFD700"/>
                </a:solidFill>
                <a:ea typeface="SimHei"/>
              </a:rPr>
              <a:t>★</a:t>
            </a:r>
            <a:r>
              <a:rPr lang="en-US" sz="750" baseline="0" spc="8">
                <a:solidFill>
                  <a:srgbClr val="FFD700"/>
                </a:solidFill>
                <a:latin typeface="Times New Roman"/>
              </a:rPr>
              <a:t>8.7</a:t>
            </a:r>
            <a:endParaRPr lang="en-US" sz="1100"/>
          </a:p>
        </p:txBody>
      </p:sp>
      <p:sp>
        <p:nvSpPr>
          <p:cNvPr name="TextBox 65" id="65"/>
          <p:cNvSpPr txBox="true"/>
          <p:nvPr/>
        </p:nvSpPr>
        <p:spPr>
          <a:xfrm>
            <a:off x="457200" y="2786380"/>
            <a:ext cx="3831590" cy="3975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300" baseline="0" spc="32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4">
                <a:solidFill>
                  <a:srgbClr val="212121"/>
                </a:solidFill>
                <a:latin typeface="Times New Roman"/>
              </a:rPr>
              <a:t>Movie detail page: showtimes grouped by theater and </a:t>
            </a:r>
            <a:endParaRPr lang="en-US" sz="1100"/>
          </a:p>
          <a:p>
            <a:pPr marL="177800" marR="0" indent="0" hangingPunct="false" algn="l">
              <a:lnSpc>
                <a:spcPts val="1440"/>
              </a:lnSpc>
              <a:spcBef>
                <a:spcPts val="179"/>
              </a:spcBef>
              <a:spcAft>
                <a:spcPct val="0"/>
              </a:spcAft>
            </a:pPr>
            <a:r>
              <a:rPr lang="en-US" sz="1300" baseline="0" spc="-32">
                <a:solidFill>
                  <a:srgbClr val="212121"/>
                </a:solidFill>
                <a:latin typeface="Times New Roman"/>
              </a:rPr>
              <a:t>date</a:t>
            </a:r>
          </a:p>
        </p:txBody>
      </p:sp>
      <p:sp>
        <p:nvSpPr>
          <p:cNvPr name="TextBox 66" id="66"/>
          <p:cNvSpPr txBox="true"/>
          <p:nvPr/>
        </p:nvSpPr>
        <p:spPr>
          <a:xfrm>
            <a:off x="457200" y="3323590"/>
            <a:ext cx="3900170" cy="3975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300" baseline="0" spc="32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0">
                <a:solidFill>
                  <a:srgbClr val="212121"/>
                </a:solidFill>
                <a:latin typeface="Times New Roman"/>
              </a:rPr>
              <a:t>Interactive seat map: regular, premium &amp; recliner tiers </a:t>
            </a:r>
            <a:endParaRPr lang="en-US" sz="1100"/>
          </a:p>
          <a:p>
            <a:pPr marL="177800" marR="0" indent="0" hangingPunct="false" algn="l">
              <a:lnSpc>
                <a:spcPts val="1440"/>
              </a:lnSpc>
              <a:spcBef>
                <a:spcPts val="179"/>
              </a:spcBef>
              <a:spcAft>
                <a:spcPct val="0"/>
              </a:spcAft>
            </a:pPr>
            <a:r>
              <a:rPr lang="en-US" sz="1300" baseline="0" spc="-32">
                <a:solidFill>
                  <a:srgbClr val="212121"/>
                </a:solidFill>
                <a:latin typeface="Times New Roman"/>
              </a:rPr>
              <a:t>with running total</a:t>
            </a:r>
          </a:p>
        </p:txBody>
      </p:sp>
      <p:sp>
        <p:nvSpPr>
          <p:cNvPr name="TextBox 67" id="67"/>
          <p:cNvSpPr txBox="true"/>
          <p:nvPr/>
        </p:nvSpPr>
        <p:spPr>
          <a:xfrm>
            <a:off x="5958840" y="3336290"/>
            <a:ext cx="419100" cy="2933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25">
                <a:solidFill>
                  <a:srgbClr val="FFFFFF"/>
                </a:solidFill>
                <a:latin typeface="Times New Roman"/>
              </a:rPr>
              <a:t>Pathaan</a:t>
            </a:r>
            <a:endParaRPr lang="en-US" sz="1100"/>
          </a:p>
          <a:p>
            <a:pPr marL="15240" marR="0" indent="0" hangingPunct="false" algn="l">
              <a:lnSpc>
                <a:spcPts val="1110"/>
              </a:lnSpc>
              <a:spcBef>
                <a:spcPts val="89"/>
              </a:spcBef>
              <a:spcAft>
                <a:spcPct val="0"/>
              </a:spcAft>
            </a:pPr>
            <a:r>
              <a:rPr lang="en-US" sz="1000" b="true" baseline="0" spc="-25">
                <a:solidFill>
                  <a:srgbClr val="FFFFFF"/>
                </a:solidFill>
                <a:latin typeface="Times New Roman"/>
              </a:rPr>
              <a:t>Returns</a:t>
            </a:r>
          </a:p>
        </p:txBody>
      </p:sp>
      <p:sp>
        <p:nvSpPr>
          <p:cNvPr name="TextBox 68" id="68"/>
          <p:cNvSpPr txBox="true"/>
          <p:nvPr/>
        </p:nvSpPr>
        <p:spPr>
          <a:xfrm>
            <a:off x="7457440" y="3336290"/>
            <a:ext cx="455930" cy="2933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25">
                <a:solidFill>
                  <a:srgbClr val="FFFFFF"/>
                </a:solidFill>
                <a:latin typeface="Times New Roman"/>
              </a:rPr>
              <a:t>The Last</a:t>
            </a:r>
            <a:endParaRPr lang="en-US" sz="1100"/>
          </a:p>
          <a:p>
            <a:pPr marL="27940" marR="0" indent="0" hangingPunct="false" algn="l">
              <a:lnSpc>
                <a:spcPts val="1110"/>
              </a:lnSpc>
              <a:spcBef>
                <a:spcPts val="89"/>
              </a:spcBef>
              <a:spcAft>
                <a:spcPct val="0"/>
              </a:spcAft>
            </a:pPr>
            <a:r>
              <a:rPr lang="en-US" sz="1000" b="true" baseline="0" spc="-25">
                <a:solidFill>
                  <a:srgbClr val="FFFFFF"/>
                </a:solidFill>
                <a:latin typeface="Times New Roman"/>
              </a:rPr>
              <a:t>Horizon</a:t>
            </a:r>
          </a:p>
        </p:txBody>
      </p:sp>
      <p:sp>
        <p:nvSpPr>
          <p:cNvPr name="TextBox 69" id="69"/>
          <p:cNvSpPr txBox="true"/>
          <p:nvPr/>
        </p:nvSpPr>
        <p:spPr>
          <a:xfrm>
            <a:off x="9024620" y="3336290"/>
            <a:ext cx="359411" cy="2933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19050" marR="0" indent="0" hangingPunct="false">
              <a:lnSpc>
                <a:spcPts val="11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9">
                <a:solidFill>
                  <a:srgbClr val="FFFFFF"/>
                </a:solidFill>
                <a:latin typeface="Times New Roman"/>
              </a:rPr>
              <a:t>Dil Se</a:t>
            </a:r>
            <a:endParaRPr lang="en-US" sz="1100"/>
          </a:p>
          <a:p>
            <a:pPr marL="0" marR="0" indent="0" hangingPunct="false" algn="l">
              <a:lnSpc>
                <a:spcPts val="1110"/>
              </a:lnSpc>
              <a:spcBef>
                <a:spcPts val="89"/>
              </a:spcBef>
              <a:spcAft>
                <a:spcPct val="0"/>
              </a:spcAft>
            </a:pPr>
            <a:r>
              <a:rPr lang="en-US" sz="1000" b="true" baseline="0" spc="-25">
                <a:solidFill>
                  <a:srgbClr val="FFFFFF"/>
                </a:solidFill>
                <a:latin typeface="Times New Roman"/>
              </a:rPr>
              <a:t>Dil Tak</a:t>
            </a:r>
          </a:p>
        </p:txBody>
      </p:sp>
      <p:sp>
        <p:nvSpPr>
          <p:cNvPr name="TextBox 70" id="70"/>
          <p:cNvSpPr txBox="true"/>
          <p:nvPr/>
        </p:nvSpPr>
        <p:spPr>
          <a:xfrm>
            <a:off x="10488930" y="3336290"/>
            <a:ext cx="427990" cy="2933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3810" marR="0" indent="0" hangingPunct="false">
              <a:lnSpc>
                <a:spcPts val="11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14">
                <a:solidFill>
                  <a:srgbClr val="FFFFFF"/>
                </a:solidFill>
                <a:latin typeface="Times New Roman"/>
              </a:rPr>
              <a:t>Shadow</a:t>
            </a:r>
            <a:endParaRPr lang="en-US" sz="1100"/>
          </a:p>
          <a:p>
            <a:pPr marL="0" marR="0" indent="0" hangingPunct="false" algn="l">
              <a:lnSpc>
                <a:spcPts val="1110"/>
              </a:lnSpc>
              <a:spcBef>
                <a:spcPts val="89"/>
              </a:spcBef>
              <a:spcAft>
                <a:spcPct val="0"/>
              </a:spcAft>
            </a:pPr>
            <a:r>
              <a:rPr lang="en-US" sz="1000" b="true" baseline="0" spc="-25">
                <a:solidFill>
                  <a:srgbClr val="FFFFFF"/>
                </a:solidFill>
                <a:latin typeface="Times New Roman"/>
              </a:rPr>
              <a:t>Protocol</a:t>
            </a:r>
          </a:p>
        </p:txBody>
      </p:sp>
      <p:sp>
        <p:nvSpPr>
          <p:cNvPr name="TextBox 71" id="71"/>
          <p:cNvSpPr txBox="true"/>
          <p:nvPr/>
        </p:nvSpPr>
        <p:spPr>
          <a:xfrm>
            <a:off x="457200" y="3862070"/>
            <a:ext cx="4038600" cy="1917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300" baseline="0" spc="32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7">
                <a:solidFill>
                  <a:srgbClr val="212121"/>
                </a:solidFill>
                <a:latin typeface="Times New Roman"/>
              </a:rPr>
              <a:t>Simulated payment step and instant e-ticket confirmation</a:t>
            </a:r>
            <a:endParaRPr lang="en-US" sz="1100"/>
          </a:p>
        </p:txBody>
      </p:sp>
      <p:sp>
        <p:nvSpPr>
          <p:cNvPr name="TextBox 72" id="72"/>
          <p:cNvSpPr txBox="true"/>
          <p:nvPr/>
        </p:nvSpPr>
        <p:spPr>
          <a:xfrm>
            <a:off x="5577840" y="4831080"/>
            <a:ext cx="67056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25">
                <a:solidFill>
                  <a:srgbClr val="212121"/>
                </a:solidFill>
                <a:latin typeface="Times New Roman"/>
              </a:rPr>
              <a:t>Select Seats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2047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>
            <a:off x="5302250" y="1691640"/>
            <a:ext cx="1371600" cy="1051560"/>
          </a:xfrm>
          <a:prstGeom prst="rect">
            <a:avLst/>
          </a:prstGeom>
          <a:solidFill>
            <a:srgbClr val="F5F5F5"/>
          </a:solidFill>
        </p:spPr>
      </p:sp>
      <p:sp>
        <p:nvSpPr>
          <p:cNvPr name="AutoShape 4" id="4"/>
          <p:cNvSpPr/>
          <p:nvPr/>
        </p:nvSpPr>
        <p:spPr>
          <a:xfrm>
            <a:off x="6948170" y="1691640"/>
            <a:ext cx="1371600" cy="1051560"/>
          </a:xfrm>
          <a:prstGeom prst="rect">
            <a:avLst/>
          </a:prstGeom>
          <a:solidFill>
            <a:srgbClr val="F5F5F5"/>
          </a:solidFill>
        </p:spPr>
      </p:sp>
      <p:sp>
        <p:nvSpPr>
          <p:cNvPr name="AutoShape 5" id="5"/>
          <p:cNvSpPr/>
          <p:nvPr/>
        </p:nvSpPr>
        <p:spPr>
          <a:xfrm>
            <a:off x="10240010" y="1691640"/>
            <a:ext cx="1371600" cy="1051560"/>
          </a:xfrm>
          <a:prstGeom prst="rect">
            <a:avLst/>
          </a:prstGeom>
          <a:solidFill>
            <a:srgbClr val="F5F5F5"/>
          </a:solidFill>
        </p:spPr>
      </p:sp>
      <p:sp>
        <p:nvSpPr>
          <p:cNvPr name="AutoShape 6" id="6"/>
          <p:cNvSpPr/>
          <p:nvPr/>
        </p:nvSpPr>
        <p:spPr>
          <a:xfrm>
            <a:off x="5303520" y="3063240"/>
            <a:ext cx="6306820" cy="454660"/>
          </a:xfrm>
          <a:prstGeom prst="rect">
            <a:avLst/>
          </a:prstGeom>
          <a:solidFill>
            <a:srgbClr val="1F1F1F"/>
          </a:solidFill>
        </p:spPr>
      </p:sp>
      <p:sp>
        <p:nvSpPr>
          <p:cNvPr name="AutoShape 7" id="7"/>
          <p:cNvSpPr/>
          <p:nvPr/>
        </p:nvSpPr>
        <p:spPr>
          <a:xfrm>
            <a:off x="5303520" y="3977640"/>
            <a:ext cx="6306820" cy="454660"/>
          </a:xfrm>
          <a:prstGeom prst="rect">
            <a:avLst/>
          </a:prstGeom>
          <a:solidFill>
            <a:srgbClr val="F5F5F5"/>
          </a:solidFill>
        </p:spPr>
      </p:sp>
      <p:sp>
        <p:nvSpPr>
          <p:cNvPr name="AutoShape 8" id="8"/>
          <p:cNvSpPr/>
          <p:nvPr/>
        </p:nvSpPr>
        <p:spPr>
          <a:xfrm>
            <a:off x="5302250" y="1691640"/>
            <a:ext cx="1371600" cy="1051560"/>
          </a:xfrm>
          <a:prstGeom prst="rect">
            <a:avLst/>
          </a:prstGeom>
          <a:ln w="12600" cmpd="sng">
            <a:solidFill>
              <a:srgbClr val="E0E0E0"/>
            </a:solidFill>
          </a:ln>
        </p:spPr>
      </p:sp>
      <p:sp>
        <p:nvSpPr>
          <p:cNvPr name="AutoShape 9" id="9"/>
          <p:cNvSpPr/>
          <p:nvPr/>
        </p:nvSpPr>
        <p:spPr>
          <a:xfrm>
            <a:off x="6948170" y="1691640"/>
            <a:ext cx="1371600" cy="1051560"/>
          </a:xfrm>
          <a:prstGeom prst="rect">
            <a:avLst/>
          </a:prstGeom>
          <a:ln w="12600" cmpd="sng">
            <a:solidFill>
              <a:srgbClr val="E0E0E0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10240010" y="1691640"/>
            <a:ext cx="1371600" cy="1051560"/>
          </a:xfrm>
          <a:prstGeom prst="rect">
            <a:avLst/>
          </a:prstGeom>
          <a:ln w="12600" cmpd="sng">
            <a:solidFill>
              <a:srgbClr val="E0E0E0"/>
            </a:solidFill>
          </a:ln>
        </p:spPr>
      </p:sp>
      <p:sp>
        <p:nvSpPr>
          <p:cNvPr name="AutoShape 11" id="11"/>
          <p:cNvSpPr/>
          <p:nvPr/>
        </p:nvSpPr>
        <p:spPr>
          <a:xfrm>
            <a:off x="5303520" y="3520440"/>
            <a:ext cx="6306820" cy="454660"/>
          </a:xfrm>
          <a:prstGeom prst="rect">
            <a:avLst/>
          </a:prstGeom>
          <a:ln w="6480" cmpd="sng">
            <a:solidFill>
              <a:srgbClr val="E0E0E0"/>
            </a:solidFill>
          </a:ln>
        </p:spPr>
      </p:sp>
      <p:sp>
        <p:nvSpPr>
          <p:cNvPr name="AutoShape 12" id="12"/>
          <p:cNvSpPr/>
          <p:nvPr/>
        </p:nvSpPr>
        <p:spPr>
          <a:xfrm>
            <a:off x="5303520" y="3977640"/>
            <a:ext cx="6306820" cy="454660"/>
          </a:xfrm>
          <a:prstGeom prst="rect">
            <a:avLst/>
          </a:prstGeom>
          <a:ln w="6480" cmpd="sng">
            <a:solidFill>
              <a:srgbClr val="E0E0E0"/>
            </a:solidFill>
          </a:ln>
        </p:spPr>
      </p:sp>
      <p:sp>
        <p:nvSpPr>
          <p:cNvPr name="AutoShape 13" id="13"/>
          <p:cNvSpPr/>
          <p:nvPr/>
        </p:nvSpPr>
        <p:spPr>
          <a:xfrm>
            <a:off x="5303520" y="4434840"/>
            <a:ext cx="6306820" cy="454660"/>
          </a:xfrm>
          <a:prstGeom prst="rect">
            <a:avLst/>
          </a:prstGeom>
          <a:ln w="6480" cmpd="sng">
            <a:solidFill>
              <a:srgbClr val="E0E0E0"/>
            </a:solidFill>
          </a:ln>
        </p:spPr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8585200" y="1676400"/>
            <a:ext cx="1397000" cy="1079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8434070" y="87630"/>
            <a:ext cx="3848100" cy="119888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>
            <a:off x="457200" y="350520"/>
            <a:ext cx="161290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25">
                <a:solidFill>
                  <a:srgbClr val="D2232A"/>
                </a:solidFill>
                <a:latin typeface="Times New Roman"/>
              </a:rPr>
              <a:t>A D M I N  D A S H B O A R D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1305540" y="350520"/>
            <a:ext cx="38735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aseline="0" spc="25">
                <a:solidFill>
                  <a:srgbClr val="757575"/>
                </a:solidFill>
                <a:latin typeface="Times New Roman"/>
              </a:rPr>
              <a:t>07 / 12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457200" y="737870"/>
            <a:ext cx="3780790" cy="1163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35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3200" b="true" baseline="0" spc="-80">
                <a:solidFill>
                  <a:srgbClr val="212121"/>
                </a:solidFill>
                <a:latin typeface="Times New Roman"/>
              </a:rPr>
              <a:t>Admin Dashboard</a:t>
            </a:r>
            <a:endParaRPr lang="en-US" sz="1100"/>
          </a:p>
          <a:p>
            <a:pPr marL="0" marR="0" indent="0" hangingPunct="false" algn="l">
              <a:lnSpc>
                <a:spcPts val="1510"/>
              </a:lnSpc>
              <a:spcBef>
                <a:spcPts val="4109"/>
              </a:spcBef>
              <a:spcAft>
                <a:spcPct val="0"/>
              </a:spcAft>
            </a:pPr>
            <a:r>
              <a:rPr lang="en-US" sz="1300" baseline="0" spc="15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2">
                <a:solidFill>
                  <a:srgbClr val="212121"/>
                </a:solidFill>
                <a:latin typeface="Times New Roman"/>
              </a:rPr>
              <a:t>Central dashboard with live stats: movies, confirmed 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635000" y="1924050"/>
            <a:ext cx="1715770" cy="1828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4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300" baseline="0" spc="0">
                <a:solidFill>
                  <a:srgbClr val="212121"/>
                </a:solidFill>
                <a:latin typeface="Times New Roman"/>
              </a:rPr>
              <a:t>bookings, revenue, users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5862320" y="1948180"/>
            <a:ext cx="233680" cy="2527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9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800" b="true" baseline="0" spc="20">
                <a:solidFill>
                  <a:srgbClr val="D2232A"/>
                </a:solidFill>
                <a:latin typeface="Times New Roman"/>
              </a:rPr>
              <a:t>48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7444740" y="1948180"/>
            <a:ext cx="353060" cy="2527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9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800" b="true" baseline="0" spc="26">
                <a:solidFill>
                  <a:srgbClr val="D2232A"/>
                </a:solidFill>
                <a:latin typeface="Times New Roman"/>
              </a:rPr>
              <a:t>612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0736580" y="1948180"/>
            <a:ext cx="353060" cy="2527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9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800" b="true" baseline="0" spc="26">
                <a:solidFill>
                  <a:srgbClr val="D2232A"/>
                </a:solidFill>
                <a:latin typeface="Times New Roman"/>
              </a:rPr>
              <a:t>329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457200" y="2247900"/>
            <a:ext cx="3643630" cy="1917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300" baseline="0" spc="15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2">
                <a:solidFill>
                  <a:srgbClr val="212121"/>
                </a:solidFill>
                <a:latin typeface="Times New Roman"/>
              </a:rPr>
              <a:t>Full CRUD: movies, theaters, screens &amp; showtimes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5671820" y="2440940"/>
            <a:ext cx="589280" cy="1257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989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900" baseline="0" spc="-22">
                <a:solidFill>
                  <a:srgbClr val="757575"/>
                </a:solidFill>
                <a:latin typeface="Times New Roman"/>
              </a:rPr>
              <a:t>Total Movies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7120890" y="2440940"/>
            <a:ext cx="967740" cy="1257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989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900" baseline="0" spc="-22">
                <a:solidFill>
                  <a:srgbClr val="757575"/>
                </a:solidFill>
                <a:latin typeface="Times New Roman"/>
              </a:rPr>
              <a:t>Confirmed Bookings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8915400" y="2440940"/>
            <a:ext cx="674370" cy="1257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989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900" baseline="0" spc="-22">
                <a:solidFill>
                  <a:srgbClr val="757575"/>
                </a:solidFill>
                <a:latin typeface="Times New Roman"/>
              </a:rPr>
              <a:t>Total Revenue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10485120" y="2440940"/>
            <a:ext cx="820420" cy="1257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989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900" baseline="0" spc="0">
                <a:solidFill>
                  <a:srgbClr val="757575"/>
                </a:solidFill>
                <a:latin typeface="Times New Roman"/>
              </a:rPr>
              <a:t>Registered Users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457200" y="2580640"/>
            <a:ext cx="3874770" cy="3975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300" baseline="0" spc="32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0">
                <a:solidFill>
                  <a:srgbClr val="212121"/>
                </a:solidFill>
                <a:latin typeface="Times New Roman"/>
              </a:rPr>
              <a:t>Booking management: view every booking and cancel </a:t>
            </a:r>
            <a:endParaRPr lang="en-US" sz="1100"/>
          </a:p>
          <a:p>
            <a:pPr marL="177800" marR="0" indent="0" hangingPunct="false" algn="l">
              <a:lnSpc>
                <a:spcPts val="1440"/>
              </a:lnSpc>
              <a:spcBef>
                <a:spcPts val="179"/>
              </a:spcBef>
              <a:spcAft>
                <a:spcPct val="0"/>
              </a:spcAft>
            </a:pPr>
            <a:r>
              <a:rPr lang="en-US" sz="1300" baseline="0" spc="-1">
                <a:solidFill>
                  <a:srgbClr val="212121"/>
                </a:solidFill>
                <a:latin typeface="Times New Roman"/>
              </a:rPr>
              <a:t>when needed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457200" y="3119120"/>
            <a:ext cx="3627120" cy="39624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300" baseline="0" spc="15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2">
                <a:solidFill>
                  <a:srgbClr val="212121"/>
                </a:solidFill>
                <a:latin typeface="Times New Roman"/>
              </a:rPr>
              <a:t>Role-protected: only users with the admin role can </a:t>
            </a:r>
            <a:endParaRPr lang="en-US" sz="1100"/>
          </a:p>
          <a:p>
            <a:pPr marL="177800" marR="0" indent="0" hangingPunct="false" algn="l">
              <a:lnSpc>
                <a:spcPts val="1440"/>
              </a:lnSpc>
              <a:spcBef>
                <a:spcPts val="170"/>
              </a:spcBef>
              <a:spcAft>
                <a:spcPct val="0"/>
              </a:spcAft>
            </a:pPr>
            <a:r>
              <a:rPr lang="en-US" sz="1300" baseline="0" spc="3">
                <a:solidFill>
                  <a:srgbClr val="212121"/>
                </a:solidFill>
                <a:latin typeface="Times New Roman"/>
              </a:rPr>
              <a:t>access this area</a:t>
            </a:r>
          </a:p>
        </p:txBody>
      </p:sp>
      <p:sp>
        <p:nvSpPr>
          <p:cNvPr name="TextBox 30" id="30"/>
          <p:cNvSpPr txBox="true"/>
          <p:nvPr/>
        </p:nvSpPr>
        <p:spPr>
          <a:xfrm>
            <a:off x="5394960" y="3230880"/>
            <a:ext cx="276860" cy="1397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25">
                <a:solidFill>
                  <a:srgbClr val="FFFFFF"/>
                </a:solidFill>
                <a:latin typeface="Times New Roman"/>
              </a:rPr>
              <a:t>Code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6949440" y="3230880"/>
            <a:ext cx="317500" cy="1397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25">
                <a:solidFill>
                  <a:srgbClr val="FFFFFF"/>
                </a:solidFill>
                <a:latin typeface="Times New Roman"/>
              </a:rPr>
              <a:t>Movie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>
            <a:off x="9601200" y="3230880"/>
            <a:ext cx="398780" cy="1397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25">
                <a:solidFill>
                  <a:srgbClr val="FFFFFF"/>
                </a:solidFill>
                <a:latin typeface="Times New Roman"/>
              </a:rPr>
              <a:t>Amount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10789920" y="3230880"/>
            <a:ext cx="325120" cy="1397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25">
                <a:solidFill>
                  <a:srgbClr val="FFFFFF"/>
                </a:solidFill>
                <a:latin typeface="Times New Roman"/>
              </a:rPr>
              <a:t>Status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5394960" y="3696970"/>
            <a:ext cx="638810" cy="127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900" baseline="0" spc="-5">
                <a:solidFill>
                  <a:srgbClr val="212121"/>
                </a:solidFill>
                <a:latin typeface="Times New Roman"/>
              </a:rPr>
              <a:t>BMS4F21A9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6949440" y="3696970"/>
            <a:ext cx="786130" cy="127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900" baseline="0" spc="-22">
                <a:solidFill>
                  <a:srgbClr val="212121"/>
                </a:solidFill>
                <a:latin typeface="Times New Roman"/>
              </a:rPr>
              <a:t>Pathaan Returns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9601200" y="3685540"/>
            <a:ext cx="236220" cy="1511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900" baseline="0" spc="-22">
                <a:solidFill>
                  <a:srgbClr val="212121"/>
                </a:solidFill>
                <a:latin typeface="Times New Roman"/>
              </a:rPr>
              <a:t>₹</a:t>
            </a:r>
            <a:r>
              <a:rPr lang="en-US" sz="900" baseline="0" spc="22">
                <a:solidFill>
                  <a:srgbClr val="212121"/>
                </a:solidFill>
                <a:latin typeface="Times New Roman"/>
              </a:rPr>
              <a:t>750</a:t>
            </a:r>
            <a:endParaRPr lang="en-US" sz="1100"/>
          </a:p>
        </p:txBody>
      </p:sp>
      <p:sp>
        <p:nvSpPr>
          <p:cNvPr name="TextBox 37" id="37"/>
          <p:cNvSpPr txBox="true"/>
          <p:nvPr/>
        </p:nvSpPr>
        <p:spPr>
          <a:xfrm>
            <a:off x="10789920" y="3696970"/>
            <a:ext cx="518161" cy="127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900" b="true" baseline="0" spc="-9">
                <a:solidFill>
                  <a:srgbClr val="2E7D32"/>
                </a:solidFill>
                <a:latin typeface="Times New Roman"/>
              </a:rPr>
              <a:t>Confirmed</a:t>
            </a:r>
            <a:endParaRPr lang="en-US" sz="1100"/>
          </a:p>
        </p:txBody>
      </p:sp>
      <p:sp>
        <p:nvSpPr>
          <p:cNvPr name="TextBox 38" id="38"/>
          <p:cNvSpPr txBox="true"/>
          <p:nvPr/>
        </p:nvSpPr>
        <p:spPr>
          <a:xfrm>
            <a:off x="5394960" y="4154170"/>
            <a:ext cx="638810" cy="127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900" baseline="0" spc="0">
                <a:solidFill>
                  <a:srgbClr val="212121"/>
                </a:solidFill>
                <a:latin typeface="Times New Roman"/>
              </a:rPr>
              <a:t>BMS8C10E3</a:t>
            </a:r>
            <a:endParaRPr lang="en-US" sz="1100"/>
          </a:p>
        </p:txBody>
      </p:sp>
      <p:sp>
        <p:nvSpPr>
          <p:cNvPr name="TextBox 39" id="39"/>
          <p:cNvSpPr txBox="true"/>
          <p:nvPr/>
        </p:nvSpPr>
        <p:spPr>
          <a:xfrm>
            <a:off x="6949440" y="4154170"/>
            <a:ext cx="848360" cy="127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900" baseline="0" spc="-10">
                <a:solidFill>
                  <a:srgbClr val="212121"/>
                </a:solidFill>
                <a:latin typeface="Times New Roman"/>
              </a:rPr>
              <a:t>The Last Horizon</a:t>
            </a:r>
            <a:endParaRPr lang="en-US" sz="1100"/>
          </a:p>
        </p:txBody>
      </p:sp>
      <p:sp>
        <p:nvSpPr>
          <p:cNvPr name="TextBox 40" id="40"/>
          <p:cNvSpPr txBox="true"/>
          <p:nvPr/>
        </p:nvSpPr>
        <p:spPr>
          <a:xfrm>
            <a:off x="9601200" y="4142740"/>
            <a:ext cx="327660" cy="1511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900" baseline="0" spc="-22">
                <a:solidFill>
                  <a:srgbClr val="212121"/>
                </a:solidFill>
                <a:latin typeface="Times New Roman"/>
              </a:rPr>
              <a:t>₹</a:t>
            </a:r>
            <a:r>
              <a:rPr lang="en-US" sz="900" baseline="0" spc="13">
                <a:solidFill>
                  <a:srgbClr val="212121"/>
                </a:solidFill>
                <a:latin typeface="Times New Roman"/>
              </a:rPr>
              <a:t>1,160</a:t>
            </a:r>
            <a:endParaRPr lang="en-US" sz="1100"/>
          </a:p>
        </p:txBody>
      </p:sp>
      <p:sp>
        <p:nvSpPr>
          <p:cNvPr name="TextBox 41" id="41"/>
          <p:cNvSpPr txBox="true"/>
          <p:nvPr/>
        </p:nvSpPr>
        <p:spPr>
          <a:xfrm>
            <a:off x="10789920" y="4154170"/>
            <a:ext cx="518161" cy="127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900" b="true" baseline="0" spc="-9">
                <a:solidFill>
                  <a:srgbClr val="2E7D32"/>
                </a:solidFill>
                <a:latin typeface="Times New Roman"/>
              </a:rPr>
              <a:t>Confirmed</a:t>
            </a:r>
            <a:endParaRPr lang="en-US" sz="1100"/>
          </a:p>
        </p:txBody>
      </p:sp>
      <p:sp>
        <p:nvSpPr>
          <p:cNvPr name="TextBox 42" id="42"/>
          <p:cNvSpPr txBox="true"/>
          <p:nvPr/>
        </p:nvSpPr>
        <p:spPr>
          <a:xfrm>
            <a:off x="5394960" y="4611370"/>
            <a:ext cx="651510" cy="127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900" baseline="0" spc="5">
                <a:solidFill>
                  <a:srgbClr val="212121"/>
                </a:solidFill>
                <a:latin typeface="Times New Roman"/>
              </a:rPr>
              <a:t>BMS2A77B0</a:t>
            </a:r>
            <a:endParaRPr lang="en-US" sz="1100"/>
          </a:p>
        </p:txBody>
      </p:sp>
      <p:sp>
        <p:nvSpPr>
          <p:cNvPr name="TextBox 43" id="43"/>
          <p:cNvSpPr txBox="true"/>
          <p:nvPr/>
        </p:nvSpPr>
        <p:spPr>
          <a:xfrm>
            <a:off x="6949440" y="4611370"/>
            <a:ext cx="664210" cy="127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900" baseline="0" spc="-22">
                <a:solidFill>
                  <a:srgbClr val="212121"/>
                </a:solidFill>
                <a:latin typeface="Times New Roman"/>
              </a:rPr>
              <a:t>Dil Se Dil Tak</a:t>
            </a:r>
            <a:endParaRPr lang="en-US" sz="1100"/>
          </a:p>
        </p:txBody>
      </p:sp>
      <p:sp>
        <p:nvSpPr>
          <p:cNvPr name="TextBox 44" id="44"/>
          <p:cNvSpPr txBox="true"/>
          <p:nvPr/>
        </p:nvSpPr>
        <p:spPr>
          <a:xfrm>
            <a:off x="9601200" y="4599940"/>
            <a:ext cx="236220" cy="1511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900" baseline="0" spc="-22">
                <a:solidFill>
                  <a:srgbClr val="212121"/>
                </a:solidFill>
                <a:latin typeface="Times New Roman"/>
              </a:rPr>
              <a:t>₹</a:t>
            </a:r>
            <a:r>
              <a:rPr lang="en-US" sz="900" baseline="0" spc="22">
                <a:solidFill>
                  <a:srgbClr val="212121"/>
                </a:solidFill>
                <a:latin typeface="Times New Roman"/>
              </a:rPr>
              <a:t>600</a:t>
            </a:r>
            <a:endParaRPr lang="en-US" sz="1100"/>
          </a:p>
        </p:txBody>
      </p:sp>
      <p:sp>
        <p:nvSpPr>
          <p:cNvPr name="TextBox 45" id="45"/>
          <p:cNvSpPr txBox="true"/>
          <p:nvPr/>
        </p:nvSpPr>
        <p:spPr>
          <a:xfrm>
            <a:off x="10789920" y="4611370"/>
            <a:ext cx="480061" cy="1270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900" b="true" baseline="0" spc="2">
                <a:solidFill>
                  <a:srgbClr val="D2232A"/>
                </a:solidFill>
                <a:latin typeface="Times New Roman"/>
              </a:rPr>
              <a:t>Cancelled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2047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3977640" y="2345690"/>
            <a:ext cx="7772400" cy="298831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8365490" y="190500"/>
            <a:ext cx="3846830" cy="120015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>
            <a:off x="457200" y="350520"/>
            <a:ext cx="149098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25">
                <a:solidFill>
                  <a:srgbClr val="D2232A"/>
                </a:solidFill>
                <a:latin typeface="Times New Roman"/>
              </a:rPr>
              <a:t>D ATA B A S E  D E S I G N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11305540" y="350520"/>
            <a:ext cx="38735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aseline="0" spc="25">
                <a:solidFill>
                  <a:srgbClr val="757575"/>
                </a:solidFill>
                <a:latin typeface="Times New Roman"/>
              </a:rPr>
              <a:t>08 / 12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457200" y="737870"/>
            <a:ext cx="5424170" cy="34340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35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3200" b="true" baseline="0" spc="-80">
                <a:solidFill>
                  <a:srgbClr val="212121"/>
                </a:solidFill>
                <a:latin typeface="Times New Roman"/>
              </a:rPr>
              <a:t>Database Design &amp; ER Diagram</a:t>
            </a:r>
            <a:endParaRPr lang="en-US" sz="1100"/>
          </a:p>
          <a:p>
            <a:pPr marL="0" marR="0" indent="0" hangingPunct="false" algn="l">
              <a:lnSpc>
                <a:spcPts val="1400"/>
              </a:lnSpc>
              <a:spcBef>
                <a:spcPts val="4100"/>
              </a:spcBef>
              <a:spcAft>
                <a:spcPct val="0"/>
              </a:spcAft>
            </a:pPr>
            <a:r>
              <a:rPr lang="en-US" sz="1250" baseline="0" spc="2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250" baseline="0" spc="-1">
                <a:solidFill>
                  <a:srgbClr val="212121"/>
                </a:solidFill>
                <a:latin typeface="Times New Roman"/>
              </a:rPr>
              <a:t>8 normalized tables (up to 3NF): users, </a:t>
            </a:r>
          </a:p>
          <a:p>
            <a:pPr marL="177800" marR="0" indent="0" hangingPunct="false" algn="l">
              <a:lnSpc>
                <a:spcPts val="1390"/>
              </a:lnSpc>
              <a:spcBef>
                <a:spcPts val="110"/>
              </a:spcBef>
              <a:spcAft>
                <a:spcPct val="0"/>
              </a:spcAft>
            </a:pPr>
            <a:r>
              <a:rPr lang="en-US" sz="1250" baseline="0" spc="6">
                <a:solidFill>
                  <a:srgbClr val="212121"/>
                </a:solidFill>
                <a:latin typeface="Times New Roman"/>
              </a:rPr>
              <a:t>movies, theaters, screens, seats, shows, </a:t>
            </a:r>
          </a:p>
          <a:p>
            <a:pPr marL="177800" marR="0" indent="0" hangingPunct="false" algn="l">
              <a:lnSpc>
                <a:spcPts val="1390"/>
              </a:lnSpc>
              <a:spcBef>
                <a:spcPts val="110"/>
              </a:spcBef>
              <a:spcAft>
                <a:spcPct val="0"/>
              </a:spcAft>
            </a:pPr>
            <a:r>
              <a:rPr lang="en-US" sz="1250" baseline="0" spc="-5">
                <a:solidFill>
                  <a:srgbClr val="212121"/>
                </a:solidFill>
                <a:latin typeface="Times New Roman"/>
              </a:rPr>
              <a:t>bookings, booking_seats</a:t>
            </a:r>
          </a:p>
          <a:p>
            <a:pPr marL="0" marR="0" indent="0" hangingPunct="false" algn="l">
              <a:lnSpc>
                <a:spcPts val="1400"/>
              </a:lnSpc>
              <a:spcBef>
                <a:spcPts val="1100"/>
              </a:spcBef>
              <a:spcAft>
                <a:spcPct val="0"/>
              </a:spcAft>
            </a:pPr>
            <a:r>
              <a:rPr lang="en-US" sz="1250" baseline="0" spc="2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250" baseline="0" spc="-11">
                <a:solidFill>
                  <a:srgbClr val="212121"/>
                </a:solidFill>
                <a:latin typeface="Times New Roman"/>
              </a:rPr>
              <a:t>Primary &amp; foreign keys enforce referential </a:t>
            </a:r>
          </a:p>
          <a:p>
            <a:pPr marL="177800" marR="0" indent="0" hangingPunct="false" algn="l">
              <a:lnSpc>
                <a:spcPts val="1390"/>
              </a:lnSpc>
              <a:spcBef>
                <a:spcPts val="110"/>
              </a:spcBef>
              <a:spcAft>
                <a:spcPct val="0"/>
              </a:spcAft>
            </a:pPr>
            <a:r>
              <a:rPr lang="en-US" sz="1250" baseline="0" spc="-11">
                <a:solidFill>
                  <a:srgbClr val="212121"/>
                </a:solidFill>
                <a:latin typeface="Times New Roman"/>
              </a:rPr>
              <a:t>integrity across every relationship</a:t>
            </a:r>
          </a:p>
          <a:p>
            <a:pPr marL="0" marR="0" indent="0" hangingPunct="false" algn="l">
              <a:lnSpc>
                <a:spcPts val="1400"/>
              </a:lnSpc>
              <a:spcBef>
                <a:spcPts val="1100"/>
              </a:spcBef>
              <a:spcAft>
                <a:spcPct val="0"/>
              </a:spcAft>
            </a:pPr>
            <a:r>
              <a:rPr lang="en-US" sz="1250" baseline="0" spc="2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250" baseline="0" spc="-31">
                <a:solidFill>
                  <a:srgbClr val="212121"/>
                </a:solidFill>
                <a:latin typeface="Times New Roman"/>
              </a:rPr>
              <a:t>booking_seats carries a UNIQUE(show_id, </a:t>
            </a:r>
          </a:p>
          <a:p>
            <a:pPr marL="177800" marR="0" indent="0" hangingPunct="false" algn="l">
              <a:lnSpc>
                <a:spcPts val="1390"/>
              </a:lnSpc>
              <a:spcBef>
                <a:spcPts val="110"/>
              </a:spcBef>
              <a:spcAft>
                <a:spcPct val="0"/>
              </a:spcAft>
            </a:pPr>
            <a:r>
              <a:rPr lang="en-US" sz="1250" baseline="0" spc="0">
                <a:solidFill>
                  <a:srgbClr val="212121"/>
                </a:solidFill>
                <a:latin typeface="Times New Roman"/>
              </a:rPr>
              <a:t>seat_id) constraint — the database itself </a:t>
            </a:r>
          </a:p>
          <a:p>
            <a:pPr marL="177800" marR="0" indent="0" hangingPunct="false" algn="l">
              <a:lnSpc>
                <a:spcPts val="1390"/>
              </a:lnSpc>
              <a:spcBef>
                <a:spcPts val="110"/>
              </a:spcBef>
              <a:spcAft>
                <a:spcPct val="0"/>
              </a:spcAft>
            </a:pPr>
            <a:r>
              <a:rPr lang="en-US" sz="1250" baseline="0" spc="4">
                <a:solidFill>
                  <a:srgbClr val="212121"/>
                </a:solidFill>
                <a:latin typeface="Times New Roman"/>
              </a:rPr>
              <a:t>refuses to store the same seat twice for one </a:t>
            </a:r>
          </a:p>
          <a:p>
            <a:pPr marL="177800" marR="0" indent="0" hangingPunct="false" algn="l">
              <a:lnSpc>
                <a:spcPts val="1390"/>
              </a:lnSpc>
              <a:spcBef>
                <a:spcPts val="110"/>
              </a:spcBef>
              <a:spcAft>
                <a:spcPct val="0"/>
              </a:spcAft>
            </a:pPr>
            <a:r>
              <a:rPr lang="en-US" sz="1250" baseline="0" spc="-7">
                <a:solidFill>
                  <a:srgbClr val="212121"/>
                </a:solidFill>
                <a:latin typeface="Times New Roman"/>
              </a:rPr>
              <a:t>show</a:t>
            </a:r>
          </a:p>
          <a:p>
            <a:pPr marL="0" marR="0" indent="0" hangingPunct="false" algn="l">
              <a:lnSpc>
                <a:spcPts val="1410"/>
              </a:lnSpc>
              <a:spcBef>
                <a:spcPts val="1089"/>
              </a:spcBef>
              <a:spcAft>
                <a:spcPct val="0"/>
              </a:spcAft>
            </a:pPr>
            <a:r>
              <a:rPr lang="en-US" sz="1250" baseline="0" spc="2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250" baseline="0" spc="2">
                <a:solidFill>
                  <a:srgbClr val="212121"/>
                </a:solidFill>
                <a:latin typeface="Times New Roman"/>
              </a:rPr>
              <a:t>Seats are generated per screen, decoupling </a:t>
            </a:r>
          </a:p>
          <a:p>
            <a:pPr marL="177800" marR="0" indent="0" hangingPunct="false" algn="l">
              <a:lnSpc>
                <a:spcPts val="1390"/>
              </a:lnSpc>
              <a:spcBef>
                <a:spcPts val="110"/>
              </a:spcBef>
              <a:spcAft>
                <a:spcPct val="0"/>
              </a:spcAft>
            </a:pPr>
            <a:r>
              <a:rPr lang="en-US" sz="1250" baseline="0" spc="1">
                <a:solidFill>
                  <a:srgbClr val="212121"/>
                </a:solidFill>
                <a:latin typeface="Times New Roman"/>
              </a:rPr>
              <a:t>seat layout from any single showtime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2047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12192000" cy="685673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3290570" y="4260850"/>
            <a:ext cx="1202690" cy="256540"/>
          </a:xfrm>
          <a:prstGeom prst="rect">
            <a:avLst/>
          </a:prstGeom>
          <a:solidFill>
            <a:srgbClr val="D2222A"/>
          </a:solidFill>
        </p:spPr>
      </p:sp>
      <p:sp>
        <p:nvSpPr>
          <p:cNvPr name="AutoShape 5" id="5"/>
          <p:cNvSpPr/>
          <p:nvPr/>
        </p:nvSpPr>
        <p:spPr>
          <a:xfrm>
            <a:off x="4493260" y="4644390"/>
            <a:ext cx="1201420" cy="256540"/>
          </a:xfrm>
          <a:prstGeom prst="rect">
            <a:avLst/>
          </a:prstGeom>
          <a:solidFill>
            <a:srgbClr val="D2222A"/>
          </a:solidFill>
        </p:spPr>
      </p:sp>
      <p:sp>
        <p:nvSpPr>
          <p:cNvPr name="AutoShape 6" id="6"/>
          <p:cNvSpPr/>
          <p:nvPr/>
        </p:nvSpPr>
        <p:spPr>
          <a:xfrm>
            <a:off x="5694680" y="5029200"/>
            <a:ext cx="2402840" cy="255270"/>
          </a:xfrm>
          <a:prstGeom prst="rect">
            <a:avLst/>
          </a:prstGeom>
          <a:solidFill>
            <a:srgbClr val="D2222A"/>
          </a:solidFill>
        </p:spPr>
      </p:sp>
      <p:sp>
        <p:nvSpPr>
          <p:cNvPr name="AutoShape 7" id="7"/>
          <p:cNvSpPr/>
          <p:nvPr/>
        </p:nvSpPr>
        <p:spPr>
          <a:xfrm>
            <a:off x="6897370" y="5412740"/>
            <a:ext cx="2402840" cy="256540"/>
          </a:xfrm>
          <a:prstGeom prst="rect">
            <a:avLst/>
          </a:prstGeom>
          <a:solidFill>
            <a:srgbClr val="D2222A"/>
          </a:solidFill>
        </p:spPr>
      </p:sp>
      <p:sp>
        <p:nvSpPr>
          <p:cNvPr name="AutoShape 8" id="8"/>
          <p:cNvSpPr/>
          <p:nvPr/>
        </p:nvSpPr>
        <p:spPr>
          <a:xfrm>
            <a:off x="9300210" y="5797550"/>
            <a:ext cx="1201420" cy="255270"/>
          </a:xfrm>
          <a:prstGeom prst="rect">
            <a:avLst/>
          </a:prstGeom>
          <a:solidFill>
            <a:srgbClr val="D2222A"/>
          </a:solidFill>
        </p:spPr>
      </p:sp>
      <p:sp>
        <p:nvSpPr>
          <p:cNvPr name="AutoShape 9" id="9"/>
          <p:cNvSpPr/>
          <p:nvPr/>
        </p:nvSpPr>
        <p:spPr>
          <a:xfrm>
            <a:off x="10501630" y="6181090"/>
            <a:ext cx="1202689" cy="256540"/>
          </a:xfrm>
          <a:prstGeom prst="rect">
            <a:avLst/>
          </a:prstGeom>
          <a:solidFill>
            <a:srgbClr val="D2222A"/>
          </a:solidFill>
        </p:spPr>
      </p:sp>
      <p:sp>
        <p:nvSpPr>
          <p:cNvPr name="AutoShape 10" id="10"/>
          <p:cNvSpPr/>
          <p:nvPr/>
        </p:nvSpPr>
        <p:spPr>
          <a:xfrm>
            <a:off x="2971800" y="1965960"/>
            <a:ext cx="1736090" cy="821690"/>
          </a:xfrm>
          <a:prstGeom prst="rect">
            <a:avLst/>
          </a:prstGeom>
          <a:solidFill>
            <a:srgbClr val="D2222A"/>
          </a:solidFill>
        </p:spPr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5473700" y="1955800"/>
            <a:ext cx="1752600" cy="83693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flipH="false" flipV="false" rot="0">
            <a:off x="8342630" y="17780"/>
            <a:ext cx="3846830" cy="120015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>
            <a:off x="457200" y="350520"/>
            <a:ext cx="179451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25">
                <a:solidFill>
                  <a:srgbClr val="D2232A"/>
                </a:solidFill>
                <a:latin typeface="Times New Roman"/>
              </a:rPr>
              <a:t>P R O C E S S  &amp;  T I M E L I N E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1305540" y="350520"/>
            <a:ext cx="38735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aseline="0" spc="25">
                <a:solidFill>
                  <a:srgbClr val="757575"/>
                </a:solidFill>
                <a:latin typeface="Times New Roman"/>
              </a:rPr>
              <a:t>09 / 12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457200" y="736600"/>
            <a:ext cx="4907280" cy="10579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355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3200" b="true" baseline="0" spc="-80">
                <a:solidFill>
                  <a:srgbClr val="212121"/>
                </a:solidFill>
                <a:latin typeface="Times New Roman"/>
              </a:rPr>
              <a:t>Data Flow &amp; Project Timeline</a:t>
            </a:r>
            <a:endParaRPr lang="en-US" sz="1100"/>
          </a:p>
          <a:p>
            <a:pPr marL="0" marR="0" indent="0" hangingPunct="false" algn="l">
              <a:lnSpc>
                <a:spcPts val="1440"/>
              </a:lnSpc>
              <a:spcBef>
                <a:spcPts val="3340"/>
              </a:spcBef>
              <a:spcAft>
                <a:spcPct val="0"/>
              </a:spcAft>
            </a:pPr>
            <a:r>
              <a:rPr lang="en-US" sz="1300" b="true" baseline="0" spc="-32">
                <a:solidFill>
                  <a:srgbClr val="212121"/>
                </a:solidFill>
                <a:latin typeface="Times New Roman"/>
              </a:rPr>
              <a:t>Level-1 Data Flow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946150" y="2320290"/>
            <a:ext cx="716280" cy="1409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11">
                <a:solidFill>
                  <a:srgbClr val="FFFFFF"/>
                </a:solidFill>
                <a:latin typeface="Times New Roman"/>
              </a:rPr>
              <a:t>User / Admin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2481580" y="2287270"/>
            <a:ext cx="196850" cy="2171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7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550" baseline="0" spc="38">
                <a:solidFill>
                  <a:srgbClr val="757575"/>
                </a:solidFill>
                <a:latin typeface="Times New Roman"/>
              </a:rPr>
              <a:t>→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3373120" y="2240280"/>
            <a:ext cx="857250" cy="2997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156210" marR="0" indent="0" hangingPunct="false">
              <a:lnSpc>
                <a:spcPts val="11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7">
                <a:solidFill>
                  <a:srgbClr val="FFFFFF"/>
                </a:solidFill>
                <a:latin typeface="Times New Roman"/>
              </a:rPr>
              <a:t>ShowTime</a:t>
            </a:r>
            <a:endParaRPr lang="en-US" sz="1100"/>
          </a:p>
          <a:p>
            <a:pPr marL="0" marR="0" indent="0" hangingPunct="false" algn="l">
              <a:lnSpc>
                <a:spcPts val="1100"/>
              </a:lnSpc>
              <a:spcBef>
                <a:spcPts val="150"/>
              </a:spcBef>
              <a:spcAft>
                <a:spcPct val="0"/>
              </a:spcAft>
            </a:pPr>
            <a:r>
              <a:rPr lang="en-US" sz="1000" b="true" baseline="0" spc="-25">
                <a:solidFill>
                  <a:srgbClr val="FFFFFF"/>
                </a:solidFill>
                <a:latin typeface="Times New Roman"/>
              </a:rPr>
              <a:t>Web App (PHP)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996180" y="2287270"/>
            <a:ext cx="196850" cy="2171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7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550" baseline="0" spc="38">
                <a:solidFill>
                  <a:srgbClr val="757575"/>
                </a:solidFill>
                <a:latin typeface="Times New Roman"/>
              </a:rPr>
              <a:t>→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6070600" y="2240280"/>
            <a:ext cx="486410" cy="2997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63500" marR="0" indent="0" hangingPunct="false">
              <a:lnSpc>
                <a:spcPts val="11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25">
                <a:solidFill>
                  <a:srgbClr val="FFFFFF"/>
                </a:solidFill>
                <a:latin typeface="Times New Roman"/>
              </a:rPr>
              <a:t>MySQL</a:t>
            </a:r>
            <a:endParaRPr lang="en-US" sz="1100"/>
          </a:p>
          <a:p>
            <a:pPr marL="0" marR="0" indent="0" hangingPunct="false" algn="l">
              <a:lnSpc>
                <a:spcPts val="1100"/>
              </a:lnSpc>
              <a:spcBef>
                <a:spcPts val="150"/>
              </a:spcBef>
              <a:spcAft>
                <a:spcPct val="0"/>
              </a:spcAft>
            </a:pPr>
            <a:r>
              <a:rPr lang="en-US" sz="1000" b="true" baseline="0" spc="-25">
                <a:solidFill>
                  <a:srgbClr val="FFFFFF"/>
                </a:solidFill>
                <a:latin typeface="Times New Roman"/>
              </a:rPr>
              <a:t>Database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436880" y="3183890"/>
            <a:ext cx="4895850" cy="32181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i="true" baseline="0" spc="6">
                <a:solidFill>
                  <a:srgbClr val="757575"/>
                </a:solidFill>
                <a:latin typeface="Times New Roman"/>
              </a:rPr>
              <a:t>Requests: browse, select seats, book, pay  •  Responses: listings, availability, confirmation</a:t>
            </a:r>
            <a:endParaRPr lang="en-US" sz="1100"/>
          </a:p>
          <a:p>
            <a:pPr marL="20320" marR="0" indent="0" hangingPunct="false" algn="l">
              <a:lnSpc>
                <a:spcPts val="1440"/>
              </a:lnSpc>
              <a:spcBef>
                <a:spcPts val="4150"/>
              </a:spcBef>
              <a:spcAft>
                <a:spcPct val="0"/>
              </a:spcAft>
            </a:pPr>
            <a:r>
              <a:rPr lang="en-US" sz="1300" b="true" baseline="0" spc="-32">
                <a:solidFill>
                  <a:srgbClr val="212121"/>
                </a:solidFill>
                <a:latin typeface="Times New Roman"/>
              </a:rPr>
              <a:t>Implementation Timeline</a:t>
            </a:r>
          </a:p>
          <a:p>
            <a:pPr marL="20320" marR="0" indent="0" hangingPunct="false" algn="l">
              <a:lnSpc>
                <a:spcPts val="1100"/>
              </a:lnSpc>
              <a:spcBef>
                <a:spcPts val="2410"/>
              </a:spcBef>
              <a:spcAft>
                <a:spcPct val="0"/>
              </a:spcAft>
            </a:pPr>
            <a:r>
              <a:rPr lang="en-US" sz="1000" baseline="0" spc="-7">
                <a:solidFill>
                  <a:srgbClr val="212121"/>
                </a:solidFill>
                <a:latin typeface="Times New Roman"/>
              </a:rPr>
              <a:t>Requirement Analysis</a:t>
            </a:r>
          </a:p>
          <a:p>
            <a:pPr marL="20320" marR="0" indent="0" hangingPunct="false" algn="l">
              <a:lnSpc>
                <a:spcPts val="1100"/>
              </a:lnSpc>
              <a:spcBef>
                <a:spcPts val="1929"/>
              </a:spcBef>
              <a:spcAft>
                <a:spcPct val="0"/>
              </a:spcAft>
            </a:pPr>
            <a:r>
              <a:rPr lang="en-US" sz="1000" baseline="0" spc="-11">
                <a:solidFill>
                  <a:srgbClr val="212121"/>
                </a:solidFill>
                <a:latin typeface="Times New Roman"/>
              </a:rPr>
              <a:t>Database Design</a:t>
            </a:r>
          </a:p>
          <a:p>
            <a:pPr marL="20320" marR="0" indent="0" hangingPunct="false" algn="l">
              <a:lnSpc>
                <a:spcPts val="1110"/>
              </a:lnSpc>
              <a:spcBef>
                <a:spcPts val="1920"/>
              </a:spcBef>
              <a:spcAft>
                <a:spcPct val="0"/>
              </a:spcAft>
            </a:pPr>
            <a:r>
              <a:rPr lang="en-US" sz="1000" baseline="0" spc="-6">
                <a:solidFill>
                  <a:srgbClr val="212121"/>
                </a:solidFill>
                <a:latin typeface="Times New Roman"/>
              </a:rPr>
              <a:t>Backend Development</a:t>
            </a:r>
          </a:p>
          <a:p>
            <a:pPr marL="20320" marR="0" indent="0" hangingPunct="false" algn="l">
              <a:lnSpc>
                <a:spcPts val="1110"/>
              </a:lnSpc>
              <a:spcBef>
                <a:spcPts val="1920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212121"/>
                </a:solidFill>
                <a:latin typeface="Times New Roman"/>
              </a:rPr>
              <a:t>Frontend &amp; UI</a:t>
            </a:r>
          </a:p>
          <a:p>
            <a:pPr marL="20320" marR="0" indent="0" hangingPunct="false" algn="l">
              <a:lnSpc>
                <a:spcPts val="1110"/>
              </a:lnSpc>
              <a:spcBef>
                <a:spcPts val="1910"/>
              </a:spcBef>
              <a:spcAft>
                <a:spcPct val="0"/>
              </a:spcAft>
            </a:pPr>
            <a:r>
              <a:rPr lang="en-US" sz="1000" baseline="0" spc="-10">
                <a:solidFill>
                  <a:srgbClr val="212121"/>
                </a:solidFill>
                <a:latin typeface="Times New Roman"/>
              </a:rPr>
              <a:t>Testing</a:t>
            </a:r>
          </a:p>
          <a:p>
            <a:pPr marL="20320" marR="0" indent="0" hangingPunct="false" algn="l">
              <a:lnSpc>
                <a:spcPts val="1110"/>
              </a:lnSpc>
              <a:spcBef>
                <a:spcPts val="1910"/>
              </a:spcBef>
              <a:spcAft>
                <a:spcPct val="0"/>
              </a:spcAft>
            </a:pPr>
            <a:r>
              <a:rPr lang="en-US" sz="1000" baseline="0" spc="-13">
                <a:solidFill>
                  <a:srgbClr val="212121"/>
                </a:solidFill>
                <a:latin typeface="Times New Roman"/>
              </a:rPr>
              <a:t>Deployment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3215640" y="6628130"/>
            <a:ext cx="140970" cy="1054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83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750" baseline="0" spc="-3">
                <a:solidFill>
                  <a:srgbClr val="757575"/>
                </a:solidFill>
                <a:latin typeface="Times New Roman"/>
              </a:rPr>
              <a:t>W0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4417060" y="6628130"/>
            <a:ext cx="140970" cy="1054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83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750" baseline="0" spc="-3">
                <a:solidFill>
                  <a:srgbClr val="757575"/>
                </a:solidFill>
                <a:latin typeface="Times New Roman"/>
              </a:rPr>
              <a:t>W1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5618480" y="6628130"/>
            <a:ext cx="140970" cy="1054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83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750" baseline="0" spc="-3">
                <a:solidFill>
                  <a:srgbClr val="757575"/>
                </a:solidFill>
                <a:latin typeface="Times New Roman"/>
              </a:rPr>
              <a:t>W2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6821170" y="6628130"/>
            <a:ext cx="140970" cy="1054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83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750" baseline="0" spc="-3">
                <a:solidFill>
                  <a:srgbClr val="757575"/>
                </a:solidFill>
                <a:latin typeface="Times New Roman"/>
              </a:rPr>
              <a:t>W3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8022590" y="6628130"/>
            <a:ext cx="140970" cy="1054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83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750" baseline="0" spc="-3">
                <a:solidFill>
                  <a:srgbClr val="757575"/>
                </a:solidFill>
                <a:latin typeface="Times New Roman"/>
              </a:rPr>
              <a:t>W4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9224010" y="6628130"/>
            <a:ext cx="140970" cy="1054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83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750" baseline="0" spc="-3">
                <a:solidFill>
                  <a:srgbClr val="757575"/>
                </a:solidFill>
                <a:latin typeface="Times New Roman"/>
              </a:rPr>
              <a:t>W5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10425430" y="6628130"/>
            <a:ext cx="140970" cy="1054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83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750" baseline="0" spc="-3">
                <a:solidFill>
                  <a:srgbClr val="757575"/>
                </a:solidFill>
                <a:latin typeface="Times New Roman"/>
              </a:rPr>
              <a:t>W6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11628120" y="6628130"/>
            <a:ext cx="140970" cy="1054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83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750" baseline="0" spc="-3">
                <a:solidFill>
                  <a:srgbClr val="757575"/>
                </a:solidFill>
                <a:latin typeface="Times New Roman"/>
              </a:rPr>
              <a:t>W7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2047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>
            <a:off x="685800" y="1965960"/>
            <a:ext cx="383540" cy="384810"/>
          </a:xfrm>
          <a:prstGeom prst="rect">
            <a:avLst/>
          </a:prstGeom>
          <a:solidFill>
            <a:srgbClr val="D2222A"/>
          </a:solidFill>
        </p:spPr>
      </p:sp>
      <p:sp>
        <p:nvSpPr>
          <p:cNvPr name="AutoShape 4" id="4"/>
          <p:cNvSpPr/>
          <p:nvPr/>
        </p:nvSpPr>
        <p:spPr>
          <a:xfrm>
            <a:off x="4526280" y="1965960"/>
            <a:ext cx="383540" cy="384810"/>
          </a:xfrm>
          <a:prstGeom prst="rect">
            <a:avLst/>
          </a:prstGeom>
          <a:solidFill>
            <a:srgbClr val="1F1F1F"/>
          </a:solidFill>
        </p:spPr>
      </p:sp>
      <p:sp>
        <p:nvSpPr>
          <p:cNvPr name="AutoShape 5" id="5"/>
          <p:cNvSpPr/>
          <p:nvPr/>
        </p:nvSpPr>
        <p:spPr>
          <a:xfrm>
            <a:off x="8366760" y="1965960"/>
            <a:ext cx="383540" cy="384810"/>
          </a:xfrm>
          <a:prstGeom prst="rect">
            <a:avLst/>
          </a:prstGeom>
          <a:solidFill>
            <a:srgbClr val="2E7D32"/>
          </a:solidFill>
        </p:spPr>
      </p:sp>
      <p:sp>
        <p:nvSpPr>
          <p:cNvPr name="AutoShape 6" id="6"/>
          <p:cNvSpPr/>
          <p:nvPr/>
        </p:nvSpPr>
        <p:spPr>
          <a:xfrm>
            <a:off x="685800" y="4343400"/>
            <a:ext cx="383540" cy="383540"/>
          </a:xfrm>
          <a:prstGeom prst="rect">
            <a:avLst/>
          </a:prstGeom>
          <a:solidFill>
            <a:srgbClr val="7B1FA2"/>
          </a:solidFill>
        </p:spPr>
      </p:sp>
      <p:sp>
        <p:nvSpPr>
          <p:cNvPr name="AutoShape 7" id="7"/>
          <p:cNvSpPr/>
          <p:nvPr/>
        </p:nvSpPr>
        <p:spPr>
          <a:xfrm>
            <a:off x="4526280" y="4343400"/>
            <a:ext cx="383540" cy="383540"/>
          </a:xfrm>
          <a:prstGeom prst="rect">
            <a:avLst/>
          </a:prstGeom>
          <a:solidFill>
            <a:srgbClr val="EF6C00"/>
          </a:solidFill>
        </p:spPr>
      </p:sp>
      <p:sp>
        <p:nvSpPr>
          <p:cNvPr name="AutoShape 8" id="8"/>
          <p:cNvSpPr/>
          <p:nvPr/>
        </p:nvSpPr>
        <p:spPr>
          <a:xfrm>
            <a:off x="8366760" y="4343400"/>
            <a:ext cx="383540" cy="383540"/>
          </a:xfrm>
          <a:prstGeom prst="rect">
            <a:avLst/>
          </a:prstGeom>
          <a:solidFill>
            <a:srgbClr val="1976D2"/>
          </a:solidFill>
        </p:spPr>
      </p:sp>
      <p:sp>
        <p:nvSpPr>
          <p:cNvPr name="AutoShape 9" id="9"/>
          <p:cNvSpPr/>
          <p:nvPr/>
        </p:nvSpPr>
        <p:spPr>
          <a:xfrm>
            <a:off x="457200" y="1737360"/>
            <a:ext cx="3564890" cy="2101850"/>
          </a:xfrm>
          <a:prstGeom prst="rect">
            <a:avLst/>
          </a:prstGeom>
          <a:solidFill>
            <a:srgbClr val="F5F5F5"/>
          </a:solidFill>
        </p:spPr>
      </p:sp>
      <p:sp>
        <p:nvSpPr>
          <p:cNvPr name="AutoShape 10" id="10"/>
          <p:cNvSpPr/>
          <p:nvPr/>
        </p:nvSpPr>
        <p:spPr>
          <a:xfrm>
            <a:off x="4297680" y="1737360"/>
            <a:ext cx="3564890" cy="2101850"/>
          </a:xfrm>
          <a:prstGeom prst="rect">
            <a:avLst/>
          </a:prstGeom>
          <a:solidFill>
            <a:srgbClr val="F5F5F5"/>
          </a:solidFill>
        </p:spPr>
      </p:sp>
      <p:sp>
        <p:nvSpPr>
          <p:cNvPr name="AutoShape 11" id="11"/>
          <p:cNvSpPr/>
          <p:nvPr/>
        </p:nvSpPr>
        <p:spPr>
          <a:xfrm>
            <a:off x="8138160" y="1737360"/>
            <a:ext cx="3564890" cy="2101850"/>
          </a:xfrm>
          <a:prstGeom prst="rect">
            <a:avLst/>
          </a:prstGeom>
          <a:solidFill>
            <a:srgbClr val="F5F5F5"/>
          </a:solidFill>
        </p:spPr>
      </p:sp>
      <p:sp>
        <p:nvSpPr>
          <p:cNvPr name="AutoShape 12" id="12"/>
          <p:cNvSpPr/>
          <p:nvPr/>
        </p:nvSpPr>
        <p:spPr>
          <a:xfrm>
            <a:off x="457200" y="4114800"/>
            <a:ext cx="3564890" cy="2101850"/>
          </a:xfrm>
          <a:prstGeom prst="rect">
            <a:avLst/>
          </a:prstGeom>
          <a:solidFill>
            <a:srgbClr val="F5F5F5"/>
          </a:solidFill>
        </p:spPr>
      </p:sp>
      <p:sp>
        <p:nvSpPr>
          <p:cNvPr name="AutoShape 13" id="13"/>
          <p:cNvSpPr/>
          <p:nvPr/>
        </p:nvSpPr>
        <p:spPr>
          <a:xfrm>
            <a:off x="4297680" y="4114800"/>
            <a:ext cx="3564890" cy="2101850"/>
          </a:xfrm>
          <a:prstGeom prst="rect">
            <a:avLst/>
          </a:prstGeom>
          <a:solidFill>
            <a:srgbClr val="F5F5F5"/>
          </a:solidFill>
        </p:spPr>
      </p:sp>
      <p:sp>
        <p:nvSpPr>
          <p:cNvPr name="AutoShape 14" id="14"/>
          <p:cNvSpPr/>
          <p:nvPr/>
        </p:nvSpPr>
        <p:spPr>
          <a:xfrm>
            <a:off x="8138160" y="4114800"/>
            <a:ext cx="3564890" cy="2101850"/>
          </a:xfrm>
          <a:prstGeom prst="rect">
            <a:avLst/>
          </a:prstGeom>
          <a:solidFill>
            <a:srgbClr val="F5F5F5"/>
          </a:solidFill>
        </p:spPr>
      </p:sp>
      <p:sp>
        <p:nvSpPr>
          <p:cNvPr name="AutoShape 15" id="15"/>
          <p:cNvSpPr/>
          <p:nvPr/>
        </p:nvSpPr>
        <p:spPr>
          <a:xfrm>
            <a:off x="457200" y="1737360"/>
            <a:ext cx="3564890" cy="2101850"/>
          </a:xfrm>
          <a:prstGeom prst="rect">
            <a:avLst/>
          </a:prstGeom>
          <a:ln w="12600" cmpd="sng">
            <a:solidFill>
              <a:srgbClr val="E0E0E0"/>
            </a:solidFill>
          </a:ln>
        </p:spPr>
      </p:sp>
      <p:sp>
        <p:nvSpPr>
          <p:cNvPr name="AutoShape 16" id="16"/>
          <p:cNvSpPr/>
          <p:nvPr/>
        </p:nvSpPr>
        <p:spPr>
          <a:xfrm>
            <a:off x="4297680" y="1737360"/>
            <a:ext cx="3564890" cy="2101850"/>
          </a:xfrm>
          <a:prstGeom prst="rect">
            <a:avLst/>
          </a:prstGeom>
          <a:ln w="12600" cmpd="sng">
            <a:solidFill>
              <a:srgbClr val="E0E0E0"/>
            </a:solidFill>
          </a:ln>
        </p:spPr>
      </p:sp>
      <p:sp>
        <p:nvSpPr>
          <p:cNvPr name="AutoShape 17" id="17"/>
          <p:cNvSpPr/>
          <p:nvPr/>
        </p:nvSpPr>
        <p:spPr>
          <a:xfrm>
            <a:off x="8138160" y="1737360"/>
            <a:ext cx="3564890" cy="2101850"/>
          </a:xfrm>
          <a:prstGeom prst="rect">
            <a:avLst/>
          </a:prstGeom>
          <a:ln w="12600" cmpd="sng">
            <a:solidFill>
              <a:srgbClr val="E0E0E0"/>
            </a:solidFill>
          </a:ln>
        </p:spPr>
      </p:sp>
      <p:sp>
        <p:nvSpPr>
          <p:cNvPr name="AutoShape 18" id="18"/>
          <p:cNvSpPr/>
          <p:nvPr/>
        </p:nvSpPr>
        <p:spPr>
          <a:xfrm>
            <a:off x="457200" y="4114800"/>
            <a:ext cx="3564890" cy="2101850"/>
          </a:xfrm>
          <a:prstGeom prst="rect">
            <a:avLst/>
          </a:prstGeom>
          <a:ln w="12600" cmpd="sng">
            <a:solidFill>
              <a:srgbClr val="E0E0E0"/>
            </a:solidFill>
          </a:ln>
        </p:spPr>
      </p:sp>
      <p:sp>
        <p:nvSpPr>
          <p:cNvPr name="AutoShape 19" id="19"/>
          <p:cNvSpPr/>
          <p:nvPr/>
        </p:nvSpPr>
        <p:spPr>
          <a:xfrm>
            <a:off x="4297680" y="4114800"/>
            <a:ext cx="3564890" cy="2101850"/>
          </a:xfrm>
          <a:prstGeom prst="rect">
            <a:avLst/>
          </a:prstGeom>
          <a:ln w="12600" cmpd="sng">
            <a:solidFill>
              <a:srgbClr val="E0E0E0"/>
            </a:solidFill>
          </a:ln>
        </p:spPr>
      </p:sp>
      <p:sp>
        <p:nvSpPr>
          <p:cNvPr name="AutoShape 20" id="20"/>
          <p:cNvSpPr/>
          <p:nvPr/>
        </p:nvSpPr>
        <p:spPr>
          <a:xfrm>
            <a:off x="8138160" y="4114800"/>
            <a:ext cx="3564890" cy="2101850"/>
          </a:xfrm>
          <a:prstGeom prst="rect">
            <a:avLst/>
          </a:prstGeom>
          <a:ln w="12600" cmpd="sng">
            <a:solidFill>
              <a:srgbClr val="E0E0E0"/>
            </a:solidFill>
          </a:ln>
        </p:spPr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8331200" y="121920"/>
            <a:ext cx="3846830" cy="119888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>
            <a:off x="457200" y="350520"/>
            <a:ext cx="185801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25">
                <a:solidFill>
                  <a:srgbClr val="D2232A"/>
                </a:solidFill>
                <a:latin typeface="Times New Roman"/>
              </a:rPr>
              <a:t>M O D U L E S  &amp;  F E AT U R E S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11305540" y="350520"/>
            <a:ext cx="38735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aseline="0" spc="25">
                <a:solidFill>
                  <a:srgbClr val="757575"/>
                </a:solidFill>
                <a:latin typeface="Times New Roman"/>
              </a:rPr>
              <a:t>10 / 12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457200" y="737870"/>
            <a:ext cx="3401060" cy="4495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35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3200" b="true" baseline="0" spc="-80">
                <a:solidFill>
                  <a:srgbClr val="212121"/>
                </a:solidFill>
                <a:latin typeface="Times New Roman"/>
              </a:rPr>
              <a:t>Modules &amp; Features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685800" y="2608580"/>
            <a:ext cx="2720340" cy="32397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450" b="true" baseline="0" spc="-36">
                <a:solidFill>
                  <a:srgbClr val="212121"/>
                </a:solidFill>
                <a:latin typeface="Times New Roman"/>
              </a:rPr>
              <a:t>User Module</a:t>
            </a:r>
            <a:endParaRPr lang="en-US" sz="1100"/>
          </a:p>
          <a:p>
            <a:pPr marL="0" marR="0" indent="0" hangingPunct="false" algn="l">
              <a:lnSpc>
                <a:spcPts val="1280"/>
              </a:lnSpc>
              <a:spcBef>
                <a:spcPts val="2529"/>
              </a:spcBef>
              <a:spcAft>
                <a:spcPct val="0"/>
              </a:spcAft>
            </a:pPr>
            <a:r>
              <a:rPr lang="en-US" sz="1150" baseline="0" spc="3">
                <a:solidFill>
                  <a:srgbClr val="757575"/>
                </a:solidFill>
                <a:latin typeface="Times New Roman"/>
              </a:rPr>
              <a:t>Register, login, browse movies, book seats, </a:t>
            </a:r>
          </a:p>
          <a:p>
            <a:pPr marL="0" marR="0" indent="0" hangingPunct="false" algn="l">
              <a:lnSpc>
                <a:spcPts val="1280"/>
              </a:lnSpc>
              <a:spcBef>
                <a:spcPts val="100"/>
              </a:spcBef>
              <a:spcAft>
                <a:spcPct val="0"/>
              </a:spcAft>
            </a:pPr>
            <a:r>
              <a:rPr lang="en-US" sz="1150" baseline="0" spc="-12">
                <a:solidFill>
                  <a:srgbClr val="757575"/>
                </a:solidFill>
                <a:latin typeface="Times New Roman"/>
              </a:rPr>
              <a:t>view history</a:t>
            </a:r>
          </a:p>
          <a:p>
            <a:pPr marL="0" marR="0" indent="0" hangingPunct="false" algn="l">
              <a:lnSpc>
                <a:spcPts val="1600"/>
              </a:lnSpc>
              <a:spcBef>
                <a:spcPts val="11930"/>
              </a:spcBef>
              <a:spcAft>
                <a:spcPct val="0"/>
              </a:spcAft>
            </a:pPr>
            <a:r>
              <a:rPr lang="en-US" sz="1450" b="true" baseline="0" spc="-4">
                <a:solidFill>
                  <a:srgbClr val="212121"/>
                </a:solidFill>
                <a:latin typeface="Times New Roman"/>
              </a:rPr>
              <a:t>Search</a:t>
            </a:r>
          </a:p>
          <a:p>
            <a:pPr marL="0" marR="0" indent="0" hangingPunct="false" algn="l">
              <a:lnSpc>
                <a:spcPts val="1280"/>
              </a:lnSpc>
              <a:spcBef>
                <a:spcPts val="2529"/>
              </a:spcBef>
              <a:spcAft>
                <a:spcPct val="0"/>
              </a:spcAft>
            </a:pPr>
            <a:r>
              <a:rPr lang="en-US" sz="1150" baseline="0" spc="1">
                <a:solidFill>
                  <a:srgbClr val="757575"/>
                </a:solidFill>
                <a:latin typeface="Times New Roman"/>
              </a:rPr>
              <a:t>Instant movie search by title across now-</a:t>
            </a:r>
          </a:p>
          <a:p>
            <a:pPr marL="0" marR="0" indent="0" hangingPunct="false" algn="l">
              <a:lnSpc>
                <a:spcPts val="1280"/>
              </a:lnSpc>
              <a:spcBef>
                <a:spcPts val="100"/>
              </a:spcBef>
              <a:spcAft>
                <a:spcPct val="0"/>
              </a:spcAft>
            </a:pPr>
            <a:r>
              <a:rPr lang="en-US" sz="1150" baseline="0" spc="10">
                <a:solidFill>
                  <a:srgbClr val="757575"/>
                </a:solidFill>
                <a:latin typeface="Times New Roman"/>
              </a:rPr>
              <a:t>showing listings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4526280" y="2608580"/>
            <a:ext cx="2962910" cy="32397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450" b="true" baseline="0" spc="-36">
                <a:solidFill>
                  <a:srgbClr val="212121"/>
                </a:solidFill>
                <a:latin typeface="Times New Roman"/>
              </a:rPr>
              <a:t>Admin Module</a:t>
            </a:r>
            <a:endParaRPr lang="en-US" sz="1100"/>
          </a:p>
          <a:p>
            <a:pPr marL="0" marR="0" indent="0" hangingPunct="false" algn="l">
              <a:lnSpc>
                <a:spcPts val="1280"/>
              </a:lnSpc>
              <a:spcBef>
                <a:spcPts val="2529"/>
              </a:spcBef>
              <a:spcAft>
                <a:spcPct val="0"/>
              </a:spcAft>
            </a:pPr>
            <a:r>
              <a:rPr lang="en-US" sz="1150" baseline="0" spc="-28">
                <a:solidFill>
                  <a:srgbClr val="757575"/>
                </a:solidFill>
                <a:latin typeface="Times New Roman"/>
              </a:rPr>
              <a:t>Dashboard, CRUD for movies/theaters/shows, </a:t>
            </a:r>
          </a:p>
          <a:p>
            <a:pPr marL="0" marR="0" indent="0" hangingPunct="false" algn="l">
              <a:lnSpc>
                <a:spcPts val="1280"/>
              </a:lnSpc>
              <a:spcBef>
                <a:spcPts val="100"/>
              </a:spcBef>
              <a:spcAft>
                <a:spcPct val="0"/>
              </a:spcAft>
            </a:pPr>
            <a:r>
              <a:rPr lang="en-US" sz="1150" baseline="0" spc="-28">
                <a:solidFill>
                  <a:srgbClr val="757575"/>
                </a:solidFill>
                <a:latin typeface="Times New Roman"/>
              </a:rPr>
              <a:t>booking control</a:t>
            </a:r>
          </a:p>
          <a:p>
            <a:pPr marL="0" marR="0" indent="0" hangingPunct="false" algn="l">
              <a:lnSpc>
                <a:spcPts val="1600"/>
              </a:lnSpc>
              <a:spcBef>
                <a:spcPts val="11930"/>
              </a:spcBef>
              <a:spcAft>
                <a:spcPct val="0"/>
              </a:spcAft>
            </a:pPr>
            <a:r>
              <a:rPr lang="en-US" sz="1450" b="true" baseline="0" spc="-36">
                <a:solidFill>
                  <a:srgbClr val="212121"/>
                </a:solidFill>
                <a:latin typeface="Times New Roman"/>
              </a:rPr>
              <a:t>Booking Engine</a:t>
            </a:r>
          </a:p>
          <a:p>
            <a:pPr marL="0" marR="0" indent="0" hangingPunct="false" algn="l">
              <a:lnSpc>
                <a:spcPts val="1280"/>
              </a:lnSpc>
              <a:spcBef>
                <a:spcPts val="2529"/>
              </a:spcBef>
              <a:spcAft>
                <a:spcPct val="0"/>
              </a:spcAft>
            </a:pPr>
            <a:r>
              <a:rPr lang="en-US" sz="1150" baseline="0" spc="0">
                <a:solidFill>
                  <a:srgbClr val="757575"/>
                </a:solidFill>
                <a:latin typeface="Times New Roman"/>
              </a:rPr>
              <a:t>Live seat map, transaction-safe locking, instant </a:t>
            </a:r>
          </a:p>
          <a:p>
            <a:pPr marL="0" marR="0" indent="0" hangingPunct="false" algn="l">
              <a:lnSpc>
                <a:spcPts val="1280"/>
              </a:lnSpc>
              <a:spcBef>
                <a:spcPts val="100"/>
              </a:spcBef>
              <a:spcAft>
                <a:spcPct val="0"/>
              </a:spcAft>
            </a:pPr>
            <a:r>
              <a:rPr lang="en-US" sz="1150" baseline="0" spc="-9">
                <a:solidFill>
                  <a:srgbClr val="757575"/>
                </a:solidFill>
                <a:latin typeface="Times New Roman"/>
              </a:rPr>
              <a:t>e-ticket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8366760" y="2608580"/>
            <a:ext cx="2802890" cy="32397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450" b="true" baseline="0" spc="-36">
                <a:solidFill>
                  <a:srgbClr val="212121"/>
                </a:solidFill>
                <a:latin typeface="Times New Roman"/>
              </a:rPr>
              <a:t>Authentication</a:t>
            </a:r>
            <a:endParaRPr lang="en-US" sz="1100"/>
          </a:p>
          <a:p>
            <a:pPr marL="0" marR="0" indent="0" hangingPunct="false" algn="l">
              <a:lnSpc>
                <a:spcPts val="1280"/>
              </a:lnSpc>
              <a:spcBef>
                <a:spcPts val="2529"/>
              </a:spcBef>
              <a:spcAft>
                <a:spcPct val="0"/>
              </a:spcAft>
            </a:pPr>
            <a:r>
              <a:rPr lang="en-US" sz="1150" baseline="0" spc="-1">
                <a:solidFill>
                  <a:srgbClr val="757575"/>
                </a:solidFill>
                <a:latin typeface="Times New Roman"/>
              </a:rPr>
              <a:t>Hashed passwords, PHP sessions, role-based </a:t>
            </a:r>
          </a:p>
          <a:p>
            <a:pPr marL="0" marR="0" indent="0" hangingPunct="false" algn="l">
              <a:lnSpc>
                <a:spcPts val="1280"/>
              </a:lnSpc>
              <a:spcBef>
                <a:spcPts val="100"/>
              </a:spcBef>
              <a:spcAft>
                <a:spcPct val="0"/>
              </a:spcAft>
            </a:pPr>
            <a:r>
              <a:rPr lang="en-US" sz="1150" baseline="0" spc="3">
                <a:solidFill>
                  <a:srgbClr val="757575"/>
                </a:solidFill>
                <a:latin typeface="Times New Roman"/>
              </a:rPr>
              <a:t>access control</a:t>
            </a:r>
          </a:p>
          <a:p>
            <a:pPr marL="0" marR="0" indent="0" hangingPunct="false" algn="l">
              <a:lnSpc>
                <a:spcPts val="1600"/>
              </a:lnSpc>
              <a:spcBef>
                <a:spcPts val="11930"/>
              </a:spcBef>
              <a:spcAft>
                <a:spcPct val="0"/>
              </a:spcAft>
            </a:pPr>
            <a:r>
              <a:rPr lang="en-US" sz="1450" b="true" baseline="0" spc="-36">
                <a:solidFill>
                  <a:srgbClr val="212121"/>
                </a:solidFill>
                <a:latin typeface="Times New Roman"/>
              </a:rPr>
              <a:t>Reporting</a:t>
            </a:r>
          </a:p>
          <a:p>
            <a:pPr marL="0" marR="0" indent="0" hangingPunct="false" algn="l">
              <a:lnSpc>
                <a:spcPts val="1280"/>
              </a:lnSpc>
              <a:spcBef>
                <a:spcPts val="2529"/>
              </a:spcBef>
              <a:spcAft>
                <a:spcPct val="0"/>
              </a:spcAft>
            </a:pPr>
            <a:r>
              <a:rPr lang="en-US" sz="1150" baseline="0" spc="-1">
                <a:solidFill>
                  <a:srgbClr val="757575"/>
                </a:solidFill>
                <a:latin typeface="Times New Roman"/>
              </a:rPr>
              <a:t>Revenue, booking counts &amp; user stats on the </a:t>
            </a:r>
          </a:p>
          <a:p>
            <a:pPr marL="0" marR="0" indent="0" hangingPunct="false" algn="l">
              <a:lnSpc>
                <a:spcPts val="1280"/>
              </a:lnSpc>
              <a:spcBef>
                <a:spcPts val="100"/>
              </a:spcBef>
              <a:spcAft>
                <a:spcPct val="0"/>
              </a:spcAft>
            </a:pPr>
            <a:r>
              <a:rPr lang="en-US" sz="1150" baseline="0" spc="-28">
                <a:solidFill>
                  <a:srgbClr val="757575"/>
                </a:solidFill>
                <a:latin typeface="Times New Roman"/>
              </a:rPr>
              <a:t>admin dashboard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2047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12192000" cy="685673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444500" y="2781300"/>
            <a:ext cx="469900" cy="46863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flipH="false" flipV="false" rot="0">
            <a:off x="444500" y="3784600"/>
            <a:ext cx="469900" cy="46863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flipH="false" flipV="false" rot="0">
            <a:off x="444500" y="4787900"/>
            <a:ext cx="469900" cy="46863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flipH="false" flipV="false" rot="0">
            <a:off x="8205470" y="76200"/>
            <a:ext cx="3846830" cy="119888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>
            <a:off x="457200" y="350520"/>
            <a:ext cx="214376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25">
                <a:solidFill>
                  <a:srgbClr val="D2232A"/>
                </a:solidFill>
                <a:latin typeface="Times New Roman"/>
              </a:rPr>
              <a:t>C H A L L E N G E S  &amp;  L E A R N I N G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11315700" y="350520"/>
            <a:ext cx="38227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aseline="0" spc="25">
                <a:solidFill>
                  <a:srgbClr val="757575"/>
                </a:solidFill>
                <a:latin typeface="Times New Roman"/>
              </a:rPr>
              <a:t>11 / 12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457200" y="737870"/>
            <a:ext cx="3989070" cy="4495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35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3200" b="true" baseline="0" spc="8">
                <a:solidFill>
                  <a:srgbClr val="212121"/>
                </a:solidFill>
                <a:latin typeface="Times New Roman"/>
              </a:rPr>
              <a:t>Challenges &amp; Learning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28650" y="1921510"/>
            <a:ext cx="97790" cy="2171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7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550" b="true" baseline="0" spc="-5">
                <a:solidFill>
                  <a:srgbClr val="FFFFFF"/>
                </a:solidFill>
                <a:latin typeface="Times New Roman"/>
              </a:rPr>
              <a:t>1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1143000" y="1833880"/>
            <a:ext cx="4900930" cy="19685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5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400" b="true" baseline="0" spc="-2">
                <a:solidFill>
                  <a:srgbClr val="212121"/>
                </a:solidFill>
                <a:latin typeface="Times New Roman"/>
              </a:rPr>
              <a:t>Challenge: Preventing double-booking under concurrent requests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143000" y="2273300"/>
            <a:ext cx="6377940" cy="1765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50" baseline="0" spc="-31">
                <a:solidFill>
                  <a:srgbClr val="757575"/>
                </a:solidFill>
                <a:latin typeface="Times New Roman"/>
              </a:rPr>
              <a:t>Learning: Learned to combine DB transactions with a unique constraint for true seat-level locking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628650" y="2927350"/>
            <a:ext cx="97790" cy="2171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7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550" b="true" baseline="0" spc="-5">
                <a:solidFill>
                  <a:srgbClr val="FFFFFF"/>
                </a:solidFill>
                <a:latin typeface="Times New Roman"/>
              </a:rPr>
              <a:t>2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143000" y="2839720"/>
            <a:ext cx="5414010" cy="19685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5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400" b="true" baseline="0" spc="0">
                <a:solidFill>
                  <a:srgbClr val="212121"/>
                </a:solidFill>
                <a:latin typeface="Times New Roman"/>
              </a:rPr>
              <a:t>Challenge: Designing a normalized schema for many-to-many bookings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143000" y="3279140"/>
            <a:ext cx="5840730" cy="1765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50" baseline="0" spc="-2">
                <a:solidFill>
                  <a:srgbClr val="757575"/>
                </a:solidFill>
                <a:latin typeface="Times New Roman"/>
              </a:rPr>
              <a:t>Learning: Modeled bookings ↔ seats through a dedicated booking_seats junction table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628650" y="3933190"/>
            <a:ext cx="97790" cy="2171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7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550" b="true" baseline="0" spc="-5">
                <a:solidFill>
                  <a:srgbClr val="FFFFFF"/>
                </a:solidFill>
                <a:latin typeface="Times New Roman"/>
              </a:rPr>
              <a:t>3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143000" y="3845560"/>
            <a:ext cx="4048760" cy="19685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5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400" b="true" baseline="0" spc="-1">
                <a:solidFill>
                  <a:srgbClr val="212121"/>
                </a:solidFill>
                <a:latin typeface="Times New Roman"/>
              </a:rPr>
              <a:t>Challenge: Session-based authentication in plain PHP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143000" y="4284980"/>
            <a:ext cx="5411470" cy="1765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50" baseline="0" spc="-4">
                <a:solidFill>
                  <a:srgbClr val="757575"/>
                </a:solidFill>
                <a:latin typeface="Times New Roman"/>
              </a:rPr>
              <a:t>Learning: Implemented secure password hashing and role-based route protection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628650" y="4939030"/>
            <a:ext cx="97790" cy="2171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7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550" b="true" baseline="0" spc="-5">
                <a:solidFill>
                  <a:srgbClr val="FFFFFF"/>
                </a:solidFill>
                <a:latin typeface="Times New Roman"/>
              </a:rPr>
              <a:t>4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143000" y="4851400"/>
            <a:ext cx="3470910" cy="19685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5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400" b="true" baseline="0" spc="2">
                <a:solidFill>
                  <a:srgbClr val="212121"/>
                </a:solidFill>
                <a:latin typeface="Times New Roman"/>
              </a:rPr>
              <a:t>Challenge: Building a responsive seat-map UI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143000" y="5290820"/>
            <a:ext cx="5400040" cy="1765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50" baseline="0" spc="-1">
                <a:solidFill>
                  <a:srgbClr val="757575"/>
                </a:solidFill>
                <a:latin typeface="Times New Roman"/>
              </a:rPr>
              <a:t>Learning: Used vanilla JS to track selection state and compute totals in real time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2047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>
            <a:off x="0" y="3383280"/>
            <a:ext cx="12190730" cy="3472180"/>
          </a:xfrm>
          <a:prstGeom prst="rect">
            <a:avLst/>
          </a:prstGeom>
          <a:solidFill>
            <a:srgbClr val="1F1F1F"/>
          </a:solid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8365490" y="87630"/>
            <a:ext cx="3846830" cy="119888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>
            <a:off x="457200" y="350520"/>
            <a:ext cx="107188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-25">
                <a:solidFill>
                  <a:srgbClr val="D2232A"/>
                </a:solidFill>
                <a:latin typeface="Times New Roman"/>
              </a:rPr>
              <a:t>R E F E R E N C E S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11305540" y="350520"/>
            <a:ext cx="387350" cy="1473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aseline="0" spc="25">
                <a:solidFill>
                  <a:srgbClr val="757575"/>
                </a:solidFill>
                <a:latin typeface="Times New Roman"/>
              </a:rPr>
              <a:t>12 / 12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457200" y="737870"/>
            <a:ext cx="1893570" cy="4495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35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3200" b="true" baseline="0" spc="13">
                <a:solidFill>
                  <a:srgbClr val="212121"/>
                </a:solidFill>
                <a:latin typeface="Times New Roman"/>
              </a:rPr>
              <a:t>References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457200" y="1708150"/>
            <a:ext cx="2900680" cy="5118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4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300" baseline="0" spc="5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32">
                <a:solidFill>
                  <a:srgbClr val="212121"/>
                </a:solidFill>
                <a:latin typeface="Times New Roman"/>
              </a:rPr>
              <a:t>PHP Documentation — php.net</a:t>
            </a:r>
            <a:endParaRPr lang="en-US" sz="1100"/>
          </a:p>
          <a:p>
            <a:pPr marL="0" marR="0" indent="0" hangingPunct="false" algn="l">
              <a:lnSpc>
                <a:spcPts val="1460"/>
              </a:lnSpc>
              <a:spcBef>
                <a:spcPts val="1110"/>
              </a:spcBef>
              <a:spcAft>
                <a:spcPct val="0"/>
              </a:spcAft>
            </a:pPr>
            <a:r>
              <a:rPr lang="en-US" sz="1300" baseline="0" spc="5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32">
                <a:solidFill>
                  <a:srgbClr val="212121"/>
                </a:solidFill>
                <a:latin typeface="Times New Roman"/>
              </a:rPr>
              <a:t>MySQL Documentation — dev.mysql.com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6035040" y="1708150"/>
            <a:ext cx="2848610" cy="5118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4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300" baseline="0" spc="5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-32">
                <a:solidFill>
                  <a:srgbClr val="212121"/>
                </a:solidFill>
                <a:latin typeface="Times New Roman"/>
              </a:rPr>
              <a:t>MDN Web Docs — developer.mozilla.org</a:t>
            </a:r>
            <a:endParaRPr lang="en-US" sz="1100"/>
          </a:p>
          <a:p>
            <a:pPr marL="0" marR="0" indent="0" hangingPunct="false" algn="l">
              <a:lnSpc>
                <a:spcPts val="1460"/>
              </a:lnSpc>
              <a:spcBef>
                <a:spcPts val="1110"/>
              </a:spcBef>
              <a:spcAft>
                <a:spcPct val="0"/>
              </a:spcAft>
            </a:pPr>
            <a:r>
              <a:rPr lang="en-US" sz="1300" baseline="0" spc="5">
                <a:solidFill>
                  <a:srgbClr val="212121"/>
                </a:solidFill>
                <a:ea typeface="Times New Roman"/>
              </a:rPr>
              <a:t>▪</a:t>
            </a:r>
            <a:r>
              <a:rPr lang="en-US" sz="1300" baseline="0" spc="5">
                <a:solidFill>
                  <a:srgbClr val="212121"/>
                </a:solidFill>
                <a:latin typeface="Times New Roman"/>
              </a:rPr>
              <a:t>W3Schools — w3schools.com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640080" y="4315460"/>
            <a:ext cx="3849370" cy="10236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465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4200" b="true" baseline="0" spc="-104">
                <a:solidFill>
                  <a:srgbClr val="FFFFFF"/>
                </a:solidFill>
                <a:latin typeface="Times New Roman"/>
              </a:rPr>
              <a:t>Thank You</a:t>
            </a:r>
            <a:endParaRPr lang="en-US" sz="1100"/>
          </a:p>
          <a:p>
            <a:pPr marL="0" marR="0" indent="0" hangingPunct="false" algn="l">
              <a:lnSpc>
                <a:spcPts val="1710"/>
              </a:lnSpc>
              <a:spcBef>
                <a:spcPts val="1700"/>
              </a:spcBef>
              <a:spcAft>
                <a:spcPct val="0"/>
              </a:spcAft>
            </a:pPr>
            <a:r>
              <a:rPr lang="en-US" sz="1550" baseline="0" spc="-2">
                <a:solidFill>
                  <a:srgbClr val="F5C6C8"/>
                </a:solidFill>
                <a:latin typeface="Times New Roman"/>
              </a:rPr>
              <a:t>Questions &amp; Answers   •   Live Demonstration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2047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1530350" y="855980"/>
            <a:ext cx="914273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